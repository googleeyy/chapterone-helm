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80" r:id="rId7"/>
    <p:sldId id="27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6" r:id="rId22"/>
    <p:sldId id="277" r:id="rId23"/>
    <p:sldId id="278" r:id="rId24"/>
    <p:sldId id="275" r:id="rId25"/>
  </p:sldIdLst>
  <p:sldSz cx="16256000" cy="9144000"/>
  <p:notesSz cx="9144000" cy="16256000"/>
  <p:embeddedFontLst>
    <p:embeddedFont>
      <p:font typeface="Liter" panose="020B0604020202020204" charset="0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Quattrocento Sans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45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77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Googleeyy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Googleey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ppck3tqhb4dme/mnt/agents/output/chapterone-devops/images/1_Abstract_Blue_Geometric_Network_Connection.png"/>
          <p:cNvPicPr>
            <a:picLocks noChangeAspect="1"/>
          </p:cNvPicPr>
          <p:nvPr/>
        </p:nvPicPr>
        <p:blipFill>
          <a:blip r:embed="rId3"/>
          <a:srcRect l="111" r="11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94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0F172A">
                  <a:alpha val="5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4642069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5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CHAPTERONE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254500"/>
            <a:ext cx="1524000" cy="50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572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DevOps, DevSecOps &amp; GitOps Implementation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 on Kubernetes with Helm, ArgoCD &amp; Reusable GitHub Actions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711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Gokul 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762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u="sng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github.com/Googleeyy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5842000"/>
            <a:ext cx="1270000" cy="406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5842000"/>
            <a:ext cx="127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DEVOPS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84400" y="5842000"/>
            <a:ext cx="1524000" cy="406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2184400" y="58420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DEVSECOPS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60800" y="5842000"/>
            <a:ext cx="1270000" cy="406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1"/>
          <p:cNvSpPr/>
          <p:nvPr/>
        </p:nvSpPr>
        <p:spPr>
          <a:xfrm>
            <a:off x="3860800" y="5842000"/>
            <a:ext cx="127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GitOps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&amp;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7112000" cy="165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49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THIS 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8796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</a:t>
            </a:r>
            <a:r>
              <a:rPr lang="en-US" sz="14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Library Management microservices platform</a:t>
            </a:r>
            <a:r>
              <a:rPr lang="en-US" sz="14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 Kubernetes — 4 backend services + frontend + infrastructure.</a:t>
            </a:r>
            <a:endParaRPr lang="en-US" sz="18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DevOps scope: </a:t>
            </a:r>
            <a:r>
              <a:rPr lang="en-US" sz="14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commit → production deployment</a:t>
            </a:r>
            <a:r>
              <a:rPr lang="en-US" sz="14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0" y="1397000"/>
            <a:ext cx="7366000" cy="330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0" y="1498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PILLARS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981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61992" y="104775"/>
                </a:moveTo>
                <a:lnTo>
                  <a:pt x="266303" y="104775"/>
                </a:lnTo>
                <a:cubicBezTo>
                  <a:pt x="273561" y="104775"/>
                  <a:pt x="279400" y="98936"/>
                  <a:pt x="279400" y="91678"/>
                </a:cubicBezTo>
                <a:lnTo>
                  <a:pt x="279400" y="13097"/>
                </a:lnTo>
                <a:cubicBezTo>
                  <a:pt x="279400" y="7804"/>
                  <a:pt x="276235" y="3001"/>
                  <a:pt x="271324" y="982"/>
                </a:cubicBezTo>
                <a:cubicBezTo>
                  <a:pt x="266412" y="-1037"/>
                  <a:pt x="260792" y="109"/>
                  <a:pt x="257026" y="3820"/>
                </a:cubicBezTo>
                <a:lnTo>
                  <a:pt x="228813" y="32087"/>
                </a:lnTo>
                <a:cubicBezTo>
                  <a:pt x="204639" y="12060"/>
                  <a:pt x="173534" y="0"/>
                  <a:pt x="139700" y="0"/>
                </a:cubicBezTo>
                <a:cubicBezTo>
                  <a:pt x="69304" y="0"/>
                  <a:pt x="11078" y="52060"/>
                  <a:pt x="1419" y="119782"/>
                </a:cubicBezTo>
                <a:cubicBezTo>
                  <a:pt x="55" y="129332"/>
                  <a:pt x="6658" y="138172"/>
                  <a:pt x="16207" y="139536"/>
                </a:cubicBezTo>
                <a:cubicBezTo>
                  <a:pt x="25757" y="140901"/>
                  <a:pt x="34598" y="134243"/>
                  <a:pt x="35962" y="124748"/>
                </a:cubicBezTo>
                <a:cubicBezTo>
                  <a:pt x="43220" y="73943"/>
                  <a:pt x="86931" y="34925"/>
                  <a:pt x="139700" y="34925"/>
                </a:cubicBezTo>
                <a:cubicBezTo>
                  <a:pt x="163929" y="34925"/>
                  <a:pt x="186194" y="43111"/>
                  <a:pt x="203929" y="56917"/>
                </a:cubicBezTo>
                <a:lnTo>
                  <a:pt x="178445" y="82401"/>
                </a:lnTo>
                <a:cubicBezTo>
                  <a:pt x="174680" y="86167"/>
                  <a:pt x="173588" y="91787"/>
                  <a:pt x="175607" y="96699"/>
                </a:cubicBezTo>
                <a:cubicBezTo>
                  <a:pt x="177626" y="101610"/>
                  <a:pt x="182429" y="104775"/>
                  <a:pt x="187722" y="104775"/>
                </a:cubicBezTo>
                <a:lnTo>
                  <a:pt x="261992" y="104775"/>
                </a:lnTo>
                <a:close/>
                <a:moveTo>
                  <a:pt x="278036" y="159618"/>
                </a:moveTo>
                <a:cubicBezTo>
                  <a:pt x="279400" y="150068"/>
                  <a:pt x="272742" y="141228"/>
                  <a:pt x="263247" y="139864"/>
                </a:cubicBezTo>
                <a:cubicBezTo>
                  <a:pt x="253752" y="138499"/>
                  <a:pt x="244857" y="145157"/>
                  <a:pt x="243493" y="154652"/>
                </a:cubicBezTo>
                <a:cubicBezTo>
                  <a:pt x="236235" y="205403"/>
                  <a:pt x="192524" y="244420"/>
                  <a:pt x="139755" y="244420"/>
                </a:cubicBezTo>
                <a:cubicBezTo>
                  <a:pt x="115525" y="244420"/>
                  <a:pt x="93261" y="236235"/>
                  <a:pt x="75525" y="222429"/>
                </a:cubicBezTo>
                <a:lnTo>
                  <a:pt x="100955" y="196999"/>
                </a:lnTo>
                <a:cubicBezTo>
                  <a:pt x="104720" y="193233"/>
                  <a:pt x="105812" y="187613"/>
                  <a:pt x="103793" y="182701"/>
                </a:cubicBezTo>
                <a:cubicBezTo>
                  <a:pt x="101774" y="177790"/>
                  <a:pt x="96971" y="174625"/>
                  <a:pt x="91678" y="174625"/>
                </a:cubicBezTo>
                <a:lnTo>
                  <a:pt x="13097" y="174625"/>
                </a:lnTo>
                <a:cubicBezTo>
                  <a:pt x="5839" y="174625"/>
                  <a:pt x="0" y="180464"/>
                  <a:pt x="0" y="187722"/>
                </a:cubicBezTo>
                <a:lnTo>
                  <a:pt x="0" y="266303"/>
                </a:lnTo>
                <a:cubicBezTo>
                  <a:pt x="0" y="271596"/>
                  <a:pt x="3165" y="276399"/>
                  <a:pt x="8076" y="278418"/>
                </a:cubicBezTo>
                <a:cubicBezTo>
                  <a:pt x="12988" y="280437"/>
                  <a:pt x="18608" y="279291"/>
                  <a:pt x="22374" y="275580"/>
                </a:cubicBezTo>
                <a:lnTo>
                  <a:pt x="50641" y="247313"/>
                </a:lnTo>
                <a:cubicBezTo>
                  <a:pt x="74761" y="267340"/>
                  <a:pt x="105866" y="279400"/>
                  <a:pt x="139700" y="279400"/>
                </a:cubicBezTo>
                <a:cubicBezTo>
                  <a:pt x="210096" y="279400"/>
                  <a:pt x="268322" y="227340"/>
                  <a:pt x="277981" y="159618"/>
                </a:cubicBezTo>
                <a:close/>
              </a:path>
            </a:pathLst>
          </a:cu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8763000" y="1930400"/>
            <a:ext cx="647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CI/CD with reusable GitHub Actions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362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2210" y="0"/>
                  <a:pt x="144720" y="546"/>
                  <a:pt x="147012" y="1583"/>
                </a:cubicBezTo>
                <a:lnTo>
                  <a:pt x="249823" y="45184"/>
                </a:lnTo>
                <a:cubicBezTo>
                  <a:pt x="261828" y="50259"/>
                  <a:pt x="270778" y="62101"/>
                  <a:pt x="270723" y="76398"/>
                </a:cubicBezTo>
                <a:cubicBezTo>
                  <a:pt x="270450" y="130532"/>
                  <a:pt x="248186" y="229577"/>
                  <a:pt x="154161" y="274598"/>
                </a:cubicBezTo>
                <a:cubicBezTo>
                  <a:pt x="145048" y="278963"/>
                  <a:pt x="134461" y="278963"/>
                  <a:pt x="125348" y="274598"/>
                </a:cubicBezTo>
                <a:cubicBezTo>
                  <a:pt x="31269" y="229577"/>
                  <a:pt x="9059" y="130532"/>
                  <a:pt x="8786" y="76398"/>
                </a:cubicBezTo>
                <a:cubicBezTo>
                  <a:pt x="8731" y="62101"/>
                  <a:pt x="17681" y="50259"/>
                  <a:pt x="29686" y="45184"/>
                </a:cubicBezTo>
                <a:lnTo>
                  <a:pt x="132442" y="1583"/>
                </a:lnTo>
                <a:cubicBezTo>
                  <a:pt x="134734" y="546"/>
                  <a:pt x="137190" y="0"/>
                  <a:pt x="139700" y="0"/>
                </a:cubicBezTo>
                <a:close/>
                <a:moveTo>
                  <a:pt x="139700" y="36453"/>
                </a:moveTo>
                <a:lnTo>
                  <a:pt x="139700" y="242783"/>
                </a:lnTo>
                <a:cubicBezTo>
                  <a:pt x="215007" y="206330"/>
                  <a:pt x="235253" y="125566"/>
                  <a:pt x="235744" y="77217"/>
                </a:cubicBezTo>
                <a:lnTo>
                  <a:pt x="139700" y="36508"/>
                </a:lnTo>
                <a:lnTo>
                  <a:pt x="139700" y="36508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0" y="2311400"/>
            <a:ext cx="647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 security scanning (DevSecOps)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99463" y="27432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43656" y="56753"/>
                </a:moveTo>
                <a:cubicBezTo>
                  <a:pt x="50885" y="56753"/>
                  <a:pt x="56753" y="50885"/>
                  <a:pt x="56753" y="43656"/>
                </a:cubicBezTo>
                <a:cubicBezTo>
                  <a:pt x="56753" y="36428"/>
                  <a:pt x="50885" y="30559"/>
                  <a:pt x="43656" y="30559"/>
                </a:cubicBezTo>
                <a:cubicBezTo>
                  <a:pt x="36428" y="30559"/>
                  <a:pt x="30559" y="36428"/>
                  <a:pt x="30559" y="43656"/>
                </a:cubicBezTo>
                <a:cubicBezTo>
                  <a:pt x="30559" y="50885"/>
                  <a:pt x="36428" y="56753"/>
                  <a:pt x="43656" y="56753"/>
                </a:cubicBezTo>
                <a:close/>
                <a:moveTo>
                  <a:pt x="87313" y="43656"/>
                </a:moveTo>
                <a:cubicBezTo>
                  <a:pt x="87313" y="61555"/>
                  <a:pt x="76562" y="76944"/>
                  <a:pt x="61119" y="83656"/>
                </a:cubicBezTo>
                <a:lnTo>
                  <a:pt x="61119" y="122238"/>
                </a:lnTo>
                <a:lnTo>
                  <a:pt x="157163" y="122238"/>
                </a:lnTo>
                <a:cubicBezTo>
                  <a:pt x="171624" y="122238"/>
                  <a:pt x="183356" y="110505"/>
                  <a:pt x="183356" y="96044"/>
                </a:cubicBezTo>
                <a:lnTo>
                  <a:pt x="183356" y="83656"/>
                </a:lnTo>
                <a:cubicBezTo>
                  <a:pt x="167913" y="76944"/>
                  <a:pt x="157163" y="61555"/>
                  <a:pt x="157163" y="43656"/>
                </a:cubicBezTo>
                <a:cubicBezTo>
                  <a:pt x="157163" y="19536"/>
                  <a:pt x="176699" y="0"/>
                  <a:pt x="200819" y="0"/>
                </a:cubicBezTo>
                <a:cubicBezTo>
                  <a:pt x="224939" y="0"/>
                  <a:pt x="244475" y="19536"/>
                  <a:pt x="244475" y="43656"/>
                </a:cubicBezTo>
                <a:cubicBezTo>
                  <a:pt x="244475" y="61555"/>
                  <a:pt x="233725" y="76944"/>
                  <a:pt x="218281" y="83656"/>
                </a:cubicBezTo>
                <a:lnTo>
                  <a:pt x="218281" y="96044"/>
                </a:lnTo>
                <a:cubicBezTo>
                  <a:pt x="218281" y="129823"/>
                  <a:pt x="190942" y="157163"/>
                  <a:pt x="157163" y="157163"/>
                </a:cubicBezTo>
                <a:lnTo>
                  <a:pt x="61119" y="157163"/>
                </a:lnTo>
                <a:lnTo>
                  <a:pt x="61119" y="195744"/>
                </a:lnTo>
                <a:cubicBezTo>
                  <a:pt x="76562" y="202456"/>
                  <a:pt x="87313" y="217845"/>
                  <a:pt x="87313" y="235744"/>
                </a:cubicBezTo>
                <a:cubicBezTo>
                  <a:pt x="87313" y="259864"/>
                  <a:pt x="67776" y="279400"/>
                  <a:pt x="43656" y="279400"/>
                </a:cubicBezTo>
                <a:cubicBezTo>
                  <a:pt x="19536" y="279400"/>
                  <a:pt x="0" y="259864"/>
                  <a:pt x="0" y="235744"/>
                </a:cubicBezTo>
                <a:cubicBezTo>
                  <a:pt x="0" y="217845"/>
                  <a:pt x="10750" y="202456"/>
                  <a:pt x="26194" y="195744"/>
                </a:cubicBezTo>
                <a:lnTo>
                  <a:pt x="26194" y="83711"/>
                </a:lnTo>
                <a:cubicBezTo>
                  <a:pt x="10750" y="76944"/>
                  <a:pt x="0" y="61555"/>
                  <a:pt x="0" y="43656"/>
                </a:cubicBezTo>
                <a:cubicBezTo>
                  <a:pt x="0" y="19536"/>
                  <a:pt x="19536" y="0"/>
                  <a:pt x="43656" y="0"/>
                </a:cubicBezTo>
                <a:cubicBezTo>
                  <a:pt x="67776" y="0"/>
                  <a:pt x="87313" y="19536"/>
                  <a:pt x="87313" y="43656"/>
                </a:cubicBezTo>
                <a:close/>
                <a:moveTo>
                  <a:pt x="213916" y="43656"/>
                </a:moveTo>
                <a:cubicBezTo>
                  <a:pt x="213916" y="36428"/>
                  <a:pt x="208047" y="30559"/>
                  <a:pt x="200819" y="30559"/>
                </a:cubicBezTo>
                <a:cubicBezTo>
                  <a:pt x="193590" y="30559"/>
                  <a:pt x="187722" y="36428"/>
                  <a:pt x="187722" y="43656"/>
                </a:cubicBezTo>
                <a:cubicBezTo>
                  <a:pt x="187722" y="50885"/>
                  <a:pt x="193590" y="56753"/>
                  <a:pt x="200819" y="56753"/>
                </a:cubicBezTo>
                <a:cubicBezTo>
                  <a:pt x="208047" y="56753"/>
                  <a:pt x="213916" y="50885"/>
                  <a:pt x="213916" y="43656"/>
                </a:cubicBezTo>
                <a:close/>
                <a:moveTo>
                  <a:pt x="43656" y="248841"/>
                </a:moveTo>
                <a:cubicBezTo>
                  <a:pt x="50885" y="248841"/>
                  <a:pt x="56753" y="242972"/>
                  <a:pt x="56753" y="235744"/>
                </a:cubicBezTo>
                <a:cubicBezTo>
                  <a:pt x="56753" y="228515"/>
                  <a:pt x="50885" y="222647"/>
                  <a:pt x="43656" y="222647"/>
                </a:cubicBezTo>
                <a:cubicBezTo>
                  <a:pt x="36428" y="222647"/>
                  <a:pt x="30559" y="228515"/>
                  <a:pt x="30559" y="235744"/>
                </a:cubicBezTo>
                <a:cubicBezTo>
                  <a:pt x="30559" y="242972"/>
                  <a:pt x="36428" y="248841"/>
                  <a:pt x="43656" y="24884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0" y="2692400"/>
            <a:ext cx="647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GitOps with ArgoCD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64538" y="31242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79618" y="130969"/>
                </a:moveTo>
                <a:lnTo>
                  <a:pt x="183575" y="130969"/>
                </a:lnTo>
                <a:cubicBezTo>
                  <a:pt x="173916" y="130969"/>
                  <a:pt x="166112" y="123165"/>
                  <a:pt x="166112" y="113506"/>
                </a:cubicBezTo>
                <a:lnTo>
                  <a:pt x="166112" y="17463"/>
                </a:lnTo>
                <a:cubicBezTo>
                  <a:pt x="166112" y="7804"/>
                  <a:pt x="173970" y="-109"/>
                  <a:pt x="183520" y="1146"/>
                </a:cubicBezTo>
                <a:cubicBezTo>
                  <a:pt x="241910" y="8895"/>
                  <a:pt x="288186" y="55171"/>
                  <a:pt x="295935" y="113561"/>
                </a:cubicBezTo>
                <a:cubicBezTo>
                  <a:pt x="297190" y="123111"/>
                  <a:pt x="289277" y="130969"/>
                  <a:pt x="279618" y="130969"/>
                </a:cubicBezTo>
                <a:close/>
                <a:moveTo>
                  <a:pt x="121474" y="20300"/>
                </a:moveTo>
                <a:cubicBezTo>
                  <a:pt x="131351" y="18226"/>
                  <a:pt x="139918" y="26303"/>
                  <a:pt x="139918" y="36398"/>
                </a:cubicBezTo>
                <a:lnTo>
                  <a:pt x="139918" y="144066"/>
                </a:lnTo>
                <a:cubicBezTo>
                  <a:pt x="139918" y="147122"/>
                  <a:pt x="141010" y="150068"/>
                  <a:pt x="142920" y="152415"/>
                </a:cubicBezTo>
                <a:lnTo>
                  <a:pt x="215007" y="239400"/>
                </a:lnTo>
                <a:cubicBezTo>
                  <a:pt x="221392" y="247094"/>
                  <a:pt x="220027" y="258718"/>
                  <a:pt x="211242" y="263465"/>
                </a:cubicBezTo>
                <a:cubicBezTo>
                  <a:pt x="192633" y="273616"/>
                  <a:pt x="171296" y="279400"/>
                  <a:pt x="148650" y="279400"/>
                </a:cubicBezTo>
                <a:cubicBezTo>
                  <a:pt x="76344" y="279400"/>
                  <a:pt x="17681" y="220737"/>
                  <a:pt x="17681" y="148431"/>
                </a:cubicBezTo>
                <a:cubicBezTo>
                  <a:pt x="17681" y="85403"/>
                  <a:pt x="62156" y="32797"/>
                  <a:pt x="121474" y="20300"/>
                </a:cubicBezTo>
                <a:close/>
                <a:moveTo>
                  <a:pt x="260737" y="157163"/>
                </a:moveTo>
                <a:lnTo>
                  <a:pt x="295662" y="157163"/>
                </a:lnTo>
                <a:cubicBezTo>
                  <a:pt x="305757" y="157163"/>
                  <a:pt x="313834" y="165730"/>
                  <a:pt x="311760" y="175607"/>
                </a:cubicBezTo>
                <a:cubicBezTo>
                  <a:pt x="306194" y="202019"/>
                  <a:pt x="292661" y="225485"/>
                  <a:pt x="273779" y="243384"/>
                </a:cubicBezTo>
                <a:cubicBezTo>
                  <a:pt x="267067" y="249768"/>
                  <a:pt x="256535" y="248404"/>
                  <a:pt x="250641" y="241255"/>
                </a:cubicBezTo>
                <a:lnTo>
                  <a:pt x="204584" y="185757"/>
                </a:lnTo>
                <a:cubicBezTo>
                  <a:pt x="195143" y="174352"/>
                  <a:pt x="203274" y="157163"/>
                  <a:pt x="218008" y="157163"/>
                </a:cubicBezTo>
                <a:lnTo>
                  <a:pt x="260682" y="157163"/>
                </a:lnTo>
                <a:close/>
              </a:path>
            </a:pathLst>
          </a:cu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8763000" y="3073400"/>
            <a:ext cx="647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Helm-based Kubernetes packaging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505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04775" y="34925"/>
                </a:moveTo>
                <a:cubicBezTo>
                  <a:pt x="104775" y="25266"/>
                  <a:pt x="112579" y="17463"/>
                  <a:pt x="122238" y="17463"/>
                </a:cubicBezTo>
                <a:lnTo>
                  <a:pt x="157163" y="17463"/>
                </a:lnTo>
                <a:cubicBezTo>
                  <a:pt x="166821" y="17463"/>
                  <a:pt x="174625" y="25266"/>
                  <a:pt x="174625" y="34925"/>
                </a:cubicBezTo>
                <a:lnTo>
                  <a:pt x="174625" y="69850"/>
                </a:lnTo>
                <a:cubicBezTo>
                  <a:pt x="174625" y="79509"/>
                  <a:pt x="166821" y="87313"/>
                  <a:pt x="157163" y="87313"/>
                </a:cubicBezTo>
                <a:lnTo>
                  <a:pt x="152797" y="87313"/>
                </a:lnTo>
                <a:lnTo>
                  <a:pt x="152797" y="122238"/>
                </a:lnTo>
                <a:lnTo>
                  <a:pt x="218281" y="122238"/>
                </a:lnTo>
                <a:cubicBezTo>
                  <a:pt x="240000" y="122238"/>
                  <a:pt x="257572" y="139809"/>
                  <a:pt x="257572" y="161528"/>
                </a:cubicBezTo>
                <a:lnTo>
                  <a:pt x="257572" y="192088"/>
                </a:lnTo>
                <a:lnTo>
                  <a:pt x="261938" y="192088"/>
                </a:lnTo>
                <a:cubicBezTo>
                  <a:pt x="271596" y="192088"/>
                  <a:pt x="279400" y="199891"/>
                  <a:pt x="279400" y="209550"/>
                </a:cubicBezTo>
                <a:lnTo>
                  <a:pt x="279400" y="244475"/>
                </a:lnTo>
                <a:cubicBezTo>
                  <a:pt x="279400" y="254134"/>
                  <a:pt x="271596" y="261938"/>
                  <a:pt x="261938" y="261938"/>
                </a:cubicBezTo>
                <a:lnTo>
                  <a:pt x="227013" y="261938"/>
                </a:lnTo>
                <a:cubicBezTo>
                  <a:pt x="217354" y="261938"/>
                  <a:pt x="209550" y="254134"/>
                  <a:pt x="209550" y="244475"/>
                </a:cubicBezTo>
                <a:lnTo>
                  <a:pt x="209550" y="209550"/>
                </a:lnTo>
                <a:cubicBezTo>
                  <a:pt x="209550" y="199891"/>
                  <a:pt x="217354" y="192088"/>
                  <a:pt x="227013" y="192088"/>
                </a:cubicBezTo>
                <a:lnTo>
                  <a:pt x="231378" y="192088"/>
                </a:lnTo>
                <a:lnTo>
                  <a:pt x="231378" y="161528"/>
                </a:lnTo>
                <a:cubicBezTo>
                  <a:pt x="231378" y="154270"/>
                  <a:pt x="225539" y="148431"/>
                  <a:pt x="218281" y="148431"/>
                </a:cubicBezTo>
                <a:lnTo>
                  <a:pt x="152797" y="148431"/>
                </a:lnTo>
                <a:lnTo>
                  <a:pt x="152797" y="192088"/>
                </a:lnTo>
                <a:lnTo>
                  <a:pt x="157163" y="192088"/>
                </a:lnTo>
                <a:cubicBezTo>
                  <a:pt x="166821" y="192088"/>
                  <a:pt x="174625" y="199891"/>
                  <a:pt x="174625" y="209550"/>
                </a:cubicBezTo>
                <a:lnTo>
                  <a:pt x="174625" y="244475"/>
                </a:lnTo>
                <a:cubicBezTo>
                  <a:pt x="174625" y="254134"/>
                  <a:pt x="166821" y="261938"/>
                  <a:pt x="157163" y="261938"/>
                </a:cubicBezTo>
                <a:lnTo>
                  <a:pt x="122238" y="261938"/>
                </a:lnTo>
                <a:cubicBezTo>
                  <a:pt x="112579" y="261938"/>
                  <a:pt x="104775" y="254134"/>
                  <a:pt x="104775" y="244475"/>
                </a:cubicBezTo>
                <a:lnTo>
                  <a:pt x="104775" y="209550"/>
                </a:lnTo>
                <a:cubicBezTo>
                  <a:pt x="104775" y="199891"/>
                  <a:pt x="112579" y="192088"/>
                  <a:pt x="122238" y="192088"/>
                </a:cubicBezTo>
                <a:lnTo>
                  <a:pt x="126603" y="192088"/>
                </a:lnTo>
                <a:lnTo>
                  <a:pt x="126603" y="148431"/>
                </a:lnTo>
                <a:lnTo>
                  <a:pt x="61119" y="148431"/>
                </a:lnTo>
                <a:cubicBezTo>
                  <a:pt x="53861" y="148431"/>
                  <a:pt x="48022" y="154270"/>
                  <a:pt x="48022" y="161528"/>
                </a:cubicBezTo>
                <a:lnTo>
                  <a:pt x="48022" y="192088"/>
                </a:lnTo>
                <a:lnTo>
                  <a:pt x="52388" y="192088"/>
                </a:lnTo>
                <a:cubicBezTo>
                  <a:pt x="62046" y="192088"/>
                  <a:pt x="69850" y="199891"/>
                  <a:pt x="69850" y="209550"/>
                </a:cubicBezTo>
                <a:lnTo>
                  <a:pt x="69850" y="244475"/>
                </a:lnTo>
                <a:cubicBezTo>
                  <a:pt x="69850" y="254134"/>
                  <a:pt x="62046" y="261938"/>
                  <a:pt x="52388" y="261938"/>
                </a:cubicBezTo>
                <a:lnTo>
                  <a:pt x="17463" y="261938"/>
                </a:lnTo>
                <a:cubicBezTo>
                  <a:pt x="7804" y="261938"/>
                  <a:pt x="0" y="254134"/>
                  <a:pt x="0" y="244475"/>
                </a:cubicBezTo>
                <a:lnTo>
                  <a:pt x="0" y="209550"/>
                </a:lnTo>
                <a:cubicBezTo>
                  <a:pt x="0" y="199891"/>
                  <a:pt x="7804" y="192088"/>
                  <a:pt x="17463" y="192088"/>
                </a:cubicBezTo>
                <a:lnTo>
                  <a:pt x="21828" y="192088"/>
                </a:lnTo>
                <a:lnTo>
                  <a:pt x="21828" y="161528"/>
                </a:lnTo>
                <a:cubicBezTo>
                  <a:pt x="21828" y="139809"/>
                  <a:pt x="39400" y="122238"/>
                  <a:pt x="61119" y="122238"/>
                </a:cubicBezTo>
                <a:lnTo>
                  <a:pt x="126603" y="122238"/>
                </a:lnTo>
                <a:lnTo>
                  <a:pt x="126603" y="87313"/>
                </a:lnTo>
                <a:lnTo>
                  <a:pt x="122238" y="87313"/>
                </a:lnTo>
                <a:cubicBezTo>
                  <a:pt x="112579" y="87313"/>
                  <a:pt x="104775" y="79509"/>
                  <a:pt x="104775" y="69850"/>
                </a:cubicBezTo>
                <a:lnTo>
                  <a:pt x="104775" y="34925"/>
                </a:lnTo>
                <a:close/>
              </a:path>
            </a:pathLst>
          </a:custGeom>
          <a:solidFill>
            <a:srgbClr val="326CE5"/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0" y="3454400"/>
            <a:ext cx="647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Multi-environment namespace strategy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16925" y="38862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69850" y="52388"/>
                </a:moveTo>
                <a:lnTo>
                  <a:pt x="69850" y="87313"/>
                </a:lnTo>
                <a:lnTo>
                  <a:pt x="139700" y="87313"/>
                </a:lnTo>
                <a:lnTo>
                  <a:pt x="139700" y="52388"/>
                </a:lnTo>
                <a:cubicBezTo>
                  <a:pt x="139700" y="33124"/>
                  <a:pt x="124038" y="17463"/>
                  <a:pt x="104775" y="17463"/>
                </a:cubicBezTo>
                <a:cubicBezTo>
                  <a:pt x="85512" y="17463"/>
                  <a:pt x="69850" y="33124"/>
                  <a:pt x="69850" y="52388"/>
                </a:cubicBezTo>
                <a:close/>
                <a:moveTo>
                  <a:pt x="34925" y="87313"/>
                </a:moveTo>
                <a:lnTo>
                  <a:pt x="34925" y="52388"/>
                </a:lnTo>
                <a:cubicBezTo>
                  <a:pt x="34925" y="13806"/>
                  <a:pt x="66194" y="-17462"/>
                  <a:pt x="104775" y="-17462"/>
                </a:cubicBezTo>
                <a:cubicBezTo>
                  <a:pt x="143356" y="-17462"/>
                  <a:pt x="174625" y="13806"/>
                  <a:pt x="174625" y="52388"/>
                </a:cubicBezTo>
                <a:lnTo>
                  <a:pt x="174625" y="87313"/>
                </a:lnTo>
                <a:cubicBezTo>
                  <a:pt x="193888" y="87313"/>
                  <a:pt x="209550" y="102974"/>
                  <a:pt x="209550" y="122238"/>
                </a:cubicBezTo>
                <a:lnTo>
                  <a:pt x="209550" y="244475"/>
                </a:lnTo>
                <a:cubicBezTo>
                  <a:pt x="209550" y="263738"/>
                  <a:pt x="193888" y="279400"/>
                  <a:pt x="174625" y="279400"/>
                </a:cubicBezTo>
                <a:lnTo>
                  <a:pt x="34925" y="279400"/>
                </a:lnTo>
                <a:cubicBezTo>
                  <a:pt x="15662" y="279400"/>
                  <a:pt x="0" y="263738"/>
                  <a:pt x="0" y="244475"/>
                </a:cubicBezTo>
                <a:lnTo>
                  <a:pt x="0" y="122238"/>
                </a:lnTo>
                <a:cubicBezTo>
                  <a:pt x="0" y="102974"/>
                  <a:pt x="15662" y="87313"/>
                  <a:pt x="34925" y="87313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0" y="3835400"/>
            <a:ext cx="647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security policies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3302000"/>
            <a:ext cx="7112000" cy="355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6000" y="3403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GITHUB REPOSITORIES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3810000"/>
            <a:ext cx="660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ChapterOne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legacy/parent repository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ChapterOne-Book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Java microservice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ChapterOne-Borrow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Java microservice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ChapterOne-User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Java microservice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ChapterOne-Frontend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JavaScript frontend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ChapterOne-Reusable-Templates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CI/CD workflows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ChapterOne-Helm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Helm charts + ArgoCD + GitOps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OVERVIEW — THE BIG PICTURE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572000" cy="3556000"/>
          </a:xfrm>
          <a:prstGeom prst="rect">
            <a:avLst/>
          </a:prstGeom>
          <a:solidFill>
            <a:srgbClr val="326CE5">
              <a:alpha val="8235"/>
            </a:srgbClr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97000"/>
            <a:ext cx="4572000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WORKFLOW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2006600"/>
            <a:ext cx="4191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Developer pushes code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GitHub PR created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Branch Protection Rules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 Pipeline triggers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Repos: ChapterOne-Book, -Borrow, -User, -Frontend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8000" y="1397000"/>
            <a:ext cx="4572000" cy="3556000"/>
          </a:xfrm>
          <a:prstGeom prst="rect">
            <a:avLst/>
          </a:prstGeom>
          <a:solidFill>
            <a:srgbClr val="F97316">
              <a:alpha val="8235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88000" y="1397000"/>
            <a:ext cx="45720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588000" y="13970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CI/CD PIPELINE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78500" y="2006600"/>
            <a:ext cx="4191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Build &amp; Scan (Trivy)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Push to Docker Hub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Update Helm Chart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Notify (Slack)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Reusable workflows: _build_trivy → _push → _update_helm → _notify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14000" y="1397000"/>
            <a:ext cx="5080000" cy="3556000"/>
          </a:xfrm>
          <a:prstGeom prst="rect">
            <a:avLst/>
          </a:prstGeom>
          <a:solidFill>
            <a:srgbClr val="22C55E">
              <a:alpha val="8235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14000" y="1397000"/>
            <a:ext cx="508000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0" y="1397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GitOps &amp; KUBERNETES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4500" y="2006600"/>
            <a:ext cx="4699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ChapterOne-Helm Repo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ArgoCD watches Git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Auto-syncs to cluster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3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library-dev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namespace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library-prod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namespace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0" y="3048000"/>
            <a:ext cx="254000" cy="0"/>
          </a:xfrm>
          <a:prstGeom prst="straightConnector1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0160000" y="3048000"/>
            <a:ext cx="254000" cy="0"/>
          </a:xfrm>
          <a:prstGeom prst="straightConnector1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762000" y="520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SERVICES DEPLOYED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715000"/>
            <a:ext cx="2286000" cy="635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5715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book-service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:8081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0400" y="5715000"/>
            <a:ext cx="2286000" cy="635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5715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user-service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:8082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38800" y="5715000"/>
            <a:ext cx="2286000" cy="635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38800" y="5715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borrow-service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:8083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77200" y="5715000"/>
            <a:ext cx="2286000" cy="635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77200" y="5715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:80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515600" y="5715000"/>
            <a:ext cx="2286000" cy="635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0" y="57150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StatefulSet :27017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954000" y="5715000"/>
            <a:ext cx="2540000" cy="635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54000" y="5715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gateway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KGateway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660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GitHub </a:t>
            </a:r>
            <a:r>
              <a:rPr lang="en-US" sz="13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CI/CD </a:t>
            </a:r>
            <a:r>
              <a:rPr lang="en-US" sz="13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Kubernetes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MICROSERVICES LANDSCAPE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7112000" cy="2667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97000"/>
            <a:ext cx="50800" cy="2667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98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BACKEND MICROSERVICES (JAVA/SPRING BOOT)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905000"/>
            <a:ext cx="660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 Service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Inventory management, CRUD operations on book records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Service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Authentication &amp; user management with JWT security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Borrow Service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Borrowing records, transactions, due-date tracking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1397000"/>
            <a:ext cx="73660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8000" y="1397000"/>
            <a:ext cx="50800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1498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FRONTEND (JAVASCRIPT/REACT)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1879600"/>
            <a:ext cx="685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UI consuming all backend APIs via Gateway routing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2743200"/>
            <a:ext cx="7366000" cy="1320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8000" y="2743200"/>
            <a:ext cx="50800" cy="1320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2844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DATA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3225800"/>
            <a:ext cx="685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 StatefulSet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persistent volume (nfs-client StorageClass)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databases: chapterone_books, chapterone_users, chapterone_borrows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267200"/>
            <a:ext cx="7112000" cy="1397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4267200"/>
            <a:ext cx="50800" cy="13970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368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A85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GATEWAY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7498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KGateway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(Gateway API) for ingress routing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HTTPRoute definitions: /api/books, /api/users, /api/borrows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867400"/>
            <a:ext cx="14732000" cy="127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5867400"/>
            <a:ext cx="50800" cy="1270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5969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HELM PACKAGING STRUCTURE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6350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microservice has its own Helm subchart under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microservices/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Infrastructure charts (MongoDB + Gateway) under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infrastructure/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HELM CHART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93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"Chart of Charts" — Umbrella Pattern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88000" y="1778000"/>
            <a:ext cx="5080000" cy="711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5588000" y="1778000"/>
            <a:ext cx="508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library-e2e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(Parent Chart)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Chart.yaml with 6 dependencies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2489200"/>
            <a:ext cx="0" cy="38100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8128000" y="2489200"/>
            <a:ext cx="0" cy="38100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398000" y="2489200"/>
            <a:ext cx="0" cy="38100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966138" y="2841005"/>
            <a:ext cx="2032000" cy="38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6138" y="2841005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book-service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52138" y="2841005"/>
            <a:ext cx="2032000" cy="38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52138" y="2841005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borrow-service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538138" y="2841005"/>
            <a:ext cx="2032000" cy="38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38138" y="2841005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user-service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66138" y="3399805"/>
            <a:ext cx="2032000" cy="38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6138" y="3399805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52138" y="3399805"/>
            <a:ext cx="2032000" cy="38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52138" y="3399805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38138" y="3399805"/>
            <a:ext cx="2032000" cy="38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38138" y="3399805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gateway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66138" y="3907805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microservices/ (blue)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06138" y="3907805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infrastructure/ (green)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469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 HIERARCHY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130800"/>
            <a:ext cx="14732000" cy="254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6000" y="5334000"/>
            <a:ext cx="762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1219200" y="5334000"/>
            <a:ext cx="139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Environment Overrides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values-dev.yaml / values-prod.yaml (highest priority)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16000" y="5867400"/>
            <a:ext cx="76200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9" name="Text 27"/>
          <p:cNvSpPr/>
          <p:nvPr/>
        </p:nvSpPr>
        <p:spPr>
          <a:xfrm>
            <a:off x="1219200" y="5867400"/>
            <a:ext cx="139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Parent Defaults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values.yaml (parent chart defaults)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16000" y="6400800"/>
            <a:ext cx="7620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1219200" y="6400800"/>
            <a:ext cx="139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Subchart Defaults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microservices/*/values.yaml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16000" y="6934200"/>
            <a:ext cx="76200" cy="457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1219200" y="6934200"/>
            <a:ext cx="139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Internal Defaults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Subchart internal defaults (lowest priority)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78232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Design:</a:t>
            </a: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Global namespace propagation — </a:t>
            </a:r>
            <a:r>
              <a:rPr lang="en-US" sz="15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global.namespace</a:t>
            </a: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set at parent level flows to all subcharts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values-dev.yaml</a:t>
            </a: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library-dev namespace | </a:t>
            </a:r>
            <a:r>
              <a:rPr lang="en-US" sz="15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values-prod.yaml</a:t>
            </a: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library-prod namespace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3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25780"/>
            <a:ext cx="14732000" cy="797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37745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75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938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Namespace Separation — Dev vs Production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346872"/>
              </p:ext>
            </p:extLst>
          </p:nvPr>
        </p:nvGraphicFramePr>
        <p:xfrm>
          <a:off x="762000" y="1651000"/>
          <a:ext cx="14732000" cy="4312352"/>
        </p:xfrm>
        <a:graphic>
          <a:graphicData uri="http://schemas.openxmlformats.org/drawingml/2006/table">
            <a:tbl>
              <a:tblPr/>
              <a:tblGrid>
                <a:gridCol w="412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044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Development (library-dev)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Production (library-prod)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04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Replicas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per service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 per service (HPA 3-10)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04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MongoDB Storage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1Gi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10Gi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04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Resource Limits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250m CPU, 256Mi mem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500m CPU, 512Mi mem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04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Autoscaling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9731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Disabled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Enabled (CPU 70%, mem 80%)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04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Image Tags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dev-&lt;commit-sha&gt;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Semantic (v1.0.0)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04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Network Policies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Optional / Light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Enforced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904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JWT Secret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Weak placeholder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Strong secret (must rotate)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985000"/>
            <a:ext cx="71120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1016000" y="7086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MAPPING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74168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branch →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library-dev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namespace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branch →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library-prod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namespace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128000" y="6985000"/>
            <a:ext cx="73660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82000" y="7086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ISOLATION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82000" y="7416800"/>
            <a:ext cx="685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logical separation at Kubernetes API level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within the same cluster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ACTIONS — REUSABLE WORKFLOWS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20800"/>
            <a:ext cx="14732000" cy="965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0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0779" y="276007"/>
                </a:moveTo>
                <a:cubicBezTo>
                  <a:pt x="120779" y="277396"/>
                  <a:pt x="119182" y="278507"/>
                  <a:pt x="117167" y="278507"/>
                </a:cubicBezTo>
                <a:cubicBezTo>
                  <a:pt x="114875" y="278715"/>
                  <a:pt x="113278" y="277604"/>
                  <a:pt x="113278" y="276007"/>
                </a:cubicBezTo>
                <a:cubicBezTo>
                  <a:pt x="113278" y="274618"/>
                  <a:pt x="114875" y="273506"/>
                  <a:pt x="116890" y="273506"/>
                </a:cubicBezTo>
                <a:cubicBezTo>
                  <a:pt x="118973" y="273298"/>
                  <a:pt x="120779" y="274409"/>
                  <a:pt x="120779" y="276007"/>
                </a:cubicBezTo>
                <a:close/>
                <a:moveTo>
                  <a:pt x="99179" y="272881"/>
                </a:moveTo>
                <a:cubicBezTo>
                  <a:pt x="98693" y="274270"/>
                  <a:pt x="100082" y="275868"/>
                  <a:pt x="102166" y="276285"/>
                </a:cubicBezTo>
                <a:cubicBezTo>
                  <a:pt x="103971" y="276979"/>
                  <a:pt x="106055" y="276285"/>
                  <a:pt x="106472" y="274895"/>
                </a:cubicBezTo>
                <a:cubicBezTo>
                  <a:pt x="106888" y="273506"/>
                  <a:pt x="105569" y="271909"/>
                  <a:pt x="103485" y="271284"/>
                </a:cubicBezTo>
                <a:cubicBezTo>
                  <a:pt x="101679" y="270798"/>
                  <a:pt x="99665" y="271492"/>
                  <a:pt x="99179" y="272881"/>
                </a:cubicBezTo>
                <a:close/>
                <a:moveTo>
                  <a:pt x="129877" y="271701"/>
                </a:moveTo>
                <a:cubicBezTo>
                  <a:pt x="127863" y="272187"/>
                  <a:pt x="126474" y="273506"/>
                  <a:pt x="126683" y="275104"/>
                </a:cubicBezTo>
                <a:cubicBezTo>
                  <a:pt x="126891" y="276493"/>
                  <a:pt x="128697" y="277396"/>
                  <a:pt x="130780" y="276910"/>
                </a:cubicBezTo>
                <a:cubicBezTo>
                  <a:pt x="132794" y="276423"/>
                  <a:pt x="134183" y="275104"/>
                  <a:pt x="133975" y="273715"/>
                </a:cubicBezTo>
                <a:cubicBezTo>
                  <a:pt x="133767" y="272395"/>
                  <a:pt x="131891" y="271492"/>
                  <a:pt x="129877" y="271701"/>
                </a:cubicBezTo>
                <a:close/>
                <a:moveTo>
                  <a:pt x="175577" y="5556"/>
                </a:moveTo>
                <a:cubicBezTo>
                  <a:pt x="79246" y="5556"/>
                  <a:pt x="5556" y="78690"/>
                  <a:pt x="5556" y="175022"/>
                </a:cubicBezTo>
                <a:cubicBezTo>
                  <a:pt x="5556" y="252045"/>
                  <a:pt x="54035" y="317956"/>
                  <a:pt x="123279" y="341154"/>
                </a:cubicBezTo>
                <a:cubicBezTo>
                  <a:pt x="132169" y="342751"/>
                  <a:pt x="135295" y="337264"/>
                  <a:pt x="135295" y="332750"/>
                </a:cubicBezTo>
                <a:cubicBezTo>
                  <a:pt x="135295" y="328444"/>
                  <a:pt x="135086" y="304691"/>
                  <a:pt x="135086" y="290106"/>
                </a:cubicBezTo>
                <a:cubicBezTo>
                  <a:pt x="135086" y="290106"/>
                  <a:pt x="86469" y="300524"/>
                  <a:pt x="76260" y="269409"/>
                </a:cubicBezTo>
                <a:cubicBezTo>
                  <a:pt x="76260" y="269409"/>
                  <a:pt x="68342" y="249198"/>
                  <a:pt x="56952" y="243989"/>
                </a:cubicBezTo>
                <a:cubicBezTo>
                  <a:pt x="56952" y="243989"/>
                  <a:pt x="41047" y="233085"/>
                  <a:pt x="58063" y="233293"/>
                </a:cubicBezTo>
                <a:cubicBezTo>
                  <a:pt x="58063" y="233293"/>
                  <a:pt x="75357" y="234682"/>
                  <a:pt x="84872" y="251212"/>
                </a:cubicBezTo>
                <a:cubicBezTo>
                  <a:pt x="100082" y="278021"/>
                  <a:pt x="125571" y="270312"/>
                  <a:pt x="135503" y="265728"/>
                </a:cubicBezTo>
                <a:cubicBezTo>
                  <a:pt x="137100" y="254615"/>
                  <a:pt x="141615" y="246906"/>
                  <a:pt x="146616" y="242322"/>
                </a:cubicBezTo>
                <a:cubicBezTo>
                  <a:pt x="107791" y="238016"/>
                  <a:pt x="68620" y="232390"/>
                  <a:pt x="68620" y="165576"/>
                </a:cubicBezTo>
                <a:cubicBezTo>
                  <a:pt x="68620" y="146477"/>
                  <a:pt x="73898" y="136892"/>
                  <a:pt x="85011" y="124668"/>
                </a:cubicBezTo>
                <a:cubicBezTo>
                  <a:pt x="83205" y="120154"/>
                  <a:pt x="77301" y="101540"/>
                  <a:pt x="86816" y="77510"/>
                </a:cubicBezTo>
                <a:cubicBezTo>
                  <a:pt x="101332" y="72995"/>
                  <a:pt x="134739" y="96262"/>
                  <a:pt x="134739" y="96262"/>
                </a:cubicBezTo>
                <a:cubicBezTo>
                  <a:pt x="148630" y="92373"/>
                  <a:pt x="163562" y="90359"/>
                  <a:pt x="178356" y="90359"/>
                </a:cubicBezTo>
                <a:cubicBezTo>
                  <a:pt x="193149" y="90359"/>
                  <a:pt x="208082" y="92373"/>
                  <a:pt x="221972" y="96262"/>
                </a:cubicBezTo>
                <a:cubicBezTo>
                  <a:pt x="221972" y="96262"/>
                  <a:pt x="255379" y="72926"/>
                  <a:pt x="269895" y="77510"/>
                </a:cubicBezTo>
                <a:cubicBezTo>
                  <a:pt x="279410" y="101610"/>
                  <a:pt x="273506" y="120154"/>
                  <a:pt x="271701" y="124668"/>
                </a:cubicBezTo>
                <a:cubicBezTo>
                  <a:pt x="282813" y="136962"/>
                  <a:pt x="289620" y="146546"/>
                  <a:pt x="289620" y="165576"/>
                </a:cubicBezTo>
                <a:cubicBezTo>
                  <a:pt x="289620" y="232599"/>
                  <a:pt x="248712" y="237946"/>
                  <a:pt x="209887" y="242322"/>
                </a:cubicBezTo>
                <a:cubicBezTo>
                  <a:pt x="216277" y="247809"/>
                  <a:pt x="221694" y="258227"/>
                  <a:pt x="221694" y="274548"/>
                </a:cubicBezTo>
                <a:cubicBezTo>
                  <a:pt x="221694" y="297954"/>
                  <a:pt x="221486" y="326916"/>
                  <a:pt x="221486" y="332611"/>
                </a:cubicBezTo>
                <a:cubicBezTo>
                  <a:pt x="221486" y="337125"/>
                  <a:pt x="224681" y="342612"/>
                  <a:pt x="233501" y="341015"/>
                </a:cubicBezTo>
                <a:cubicBezTo>
                  <a:pt x="302955" y="317956"/>
                  <a:pt x="350044" y="252045"/>
                  <a:pt x="350044" y="175022"/>
                </a:cubicBezTo>
                <a:cubicBezTo>
                  <a:pt x="350044" y="78690"/>
                  <a:pt x="271909" y="5556"/>
                  <a:pt x="175578" y="5556"/>
                </a:cubicBezTo>
                <a:close/>
                <a:moveTo>
                  <a:pt x="73065" y="245100"/>
                </a:moveTo>
                <a:cubicBezTo>
                  <a:pt x="72162" y="245795"/>
                  <a:pt x="72370" y="247392"/>
                  <a:pt x="73551" y="248712"/>
                </a:cubicBezTo>
                <a:cubicBezTo>
                  <a:pt x="74662" y="249823"/>
                  <a:pt x="76260" y="250309"/>
                  <a:pt x="77162" y="249406"/>
                </a:cubicBezTo>
                <a:cubicBezTo>
                  <a:pt x="78065" y="248712"/>
                  <a:pt x="77857" y="247114"/>
                  <a:pt x="76676" y="245795"/>
                </a:cubicBezTo>
                <a:cubicBezTo>
                  <a:pt x="75565" y="244683"/>
                  <a:pt x="73968" y="244197"/>
                  <a:pt x="73065" y="245100"/>
                </a:cubicBezTo>
                <a:close/>
                <a:moveTo>
                  <a:pt x="65564" y="239474"/>
                </a:moveTo>
                <a:cubicBezTo>
                  <a:pt x="65078" y="240377"/>
                  <a:pt x="65772" y="241489"/>
                  <a:pt x="67161" y="242183"/>
                </a:cubicBezTo>
                <a:cubicBezTo>
                  <a:pt x="68272" y="242878"/>
                  <a:pt x="69661" y="242669"/>
                  <a:pt x="70148" y="241697"/>
                </a:cubicBezTo>
                <a:cubicBezTo>
                  <a:pt x="70634" y="240794"/>
                  <a:pt x="69939" y="239683"/>
                  <a:pt x="68550" y="238988"/>
                </a:cubicBezTo>
                <a:cubicBezTo>
                  <a:pt x="67161" y="238571"/>
                  <a:pt x="66050" y="238780"/>
                  <a:pt x="65564" y="239474"/>
                </a:cubicBezTo>
                <a:close/>
                <a:moveTo>
                  <a:pt x="88067" y="264200"/>
                </a:moveTo>
                <a:cubicBezTo>
                  <a:pt x="86955" y="265103"/>
                  <a:pt x="87372" y="267186"/>
                  <a:pt x="88969" y="268506"/>
                </a:cubicBezTo>
                <a:cubicBezTo>
                  <a:pt x="90567" y="270103"/>
                  <a:pt x="92581" y="270312"/>
                  <a:pt x="93484" y="269200"/>
                </a:cubicBezTo>
                <a:cubicBezTo>
                  <a:pt x="94387" y="268297"/>
                  <a:pt x="93970" y="266214"/>
                  <a:pt x="92581" y="264894"/>
                </a:cubicBezTo>
                <a:cubicBezTo>
                  <a:pt x="91053" y="263297"/>
                  <a:pt x="88969" y="263088"/>
                  <a:pt x="88067" y="264200"/>
                </a:cubicBezTo>
                <a:close/>
                <a:moveTo>
                  <a:pt x="80149" y="253990"/>
                </a:moveTo>
                <a:cubicBezTo>
                  <a:pt x="79038" y="254685"/>
                  <a:pt x="79038" y="256490"/>
                  <a:pt x="80149" y="258088"/>
                </a:cubicBezTo>
                <a:cubicBezTo>
                  <a:pt x="81260" y="259685"/>
                  <a:pt x="83135" y="260380"/>
                  <a:pt x="84038" y="259685"/>
                </a:cubicBezTo>
                <a:cubicBezTo>
                  <a:pt x="85150" y="258782"/>
                  <a:pt x="85150" y="256977"/>
                  <a:pt x="84038" y="255379"/>
                </a:cubicBezTo>
                <a:cubicBezTo>
                  <a:pt x="83066" y="253782"/>
                  <a:pt x="81260" y="253087"/>
                  <a:pt x="80149" y="253990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1371600"/>
            <a:ext cx="1016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CI/CD Hub: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ChapterOne-Reusable-Templates | Pattern: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workflow_call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Hub: googleyy/&lt;service-name&gt;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152745"/>
              </p:ext>
            </p:extLst>
          </p:nvPr>
        </p:nvGraphicFramePr>
        <p:xfrm>
          <a:off x="762000" y="2311400"/>
          <a:ext cx="14732000" cy="4222750"/>
        </p:xfrm>
        <a:graphic>
          <a:graphicData uri="http://schemas.openxmlformats.org/drawingml/2006/table">
            <a:tbl>
              <a:tblPr/>
              <a:tblGrid>
                <a:gridCol w="412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Workflow File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Trigger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_build_trivy.yml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Build Docker image + Trivy vulnerability scan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Called by service CI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_push.yml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Push image to Docker Hub + Git tag (prod)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Called after build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_update_helm_chart.yml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Update image tag in Helm repo values file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Called after push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_snyk.yml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Snyk dependency vulnerability scan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Standalone or called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_sonar.yml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SonarQube code quality analysis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Standalone or called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_notify.yml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Slack deployment notifications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Final step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762000" y="7289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76708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DRY principle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one workflow definition, used across 4+ microservices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maintenance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update in one place, all repos get the fix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security scanning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every service gets identical Trivy, Snyk, and SonarQube gates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CI/CD PIPELINE DEEP DIVE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3429000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97000"/>
            <a:ext cx="3429000" cy="50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1: BUILD &amp; SCAN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06600"/>
            <a:ext cx="3124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_build_trivy.yml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62200"/>
            <a:ext cx="31242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21 Temurin / Node 20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mvn package -DskipTests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with cache optimization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Trivy Scan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CRITICAL,HIGH threshold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Artifact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image (1-day retention)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image_full registry path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91000" y="4699000"/>
            <a:ext cx="304800" cy="0"/>
          </a:xfrm>
          <a:prstGeom prst="straightConnector1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495800" y="1397000"/>
            <a:ext cx="3429000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5800" y="1397000"/>
            <a:ext cx="3429000" cy="508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4495800" y="1397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2: PUSH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8200" y="2006600"/>
            <a:ext cx="3124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_push.yml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8200" y="2362200"/>
            <a:ext cx="31242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artifact image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to Registry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Hub with commit SHA tag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Only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Tag and push "latest"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Git tag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Conditional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is_production=true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push_dev_images=true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24800" y="4699000"/>
            <a:ext cx="304800" cy="0"/>
          </a:xfrm>
          <a:prstGeom prst="straightConnector1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229600" y="1397000"/>
            <a:ext cx="3429000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397000"/>
            <a:ext cx="3429000" cy="508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1397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3: UPDATE HELM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2006600"/>
            <a:ext cx="3124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_update_helm_chart.yml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2362200"/>
            <a:ext cx="31242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Checkout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ChapterOne-Helm at correct branch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Setup yq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YAML processor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kebab → camelCase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book-service → bookService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Values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values-dev.yaml or values-prod.yaml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Commit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github-actions[bot]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HELM_REPO_PAT auth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658600" y="4699000"/>
            <a:ext cx="304800" cy="0"/>
          </a:xfrm>
          <a:prstGeom prst="straightConnector1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963400" y="1397000"/>
            <a:ext cx="3530600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63400" y="1397000"/>
            <a:ext cx="3530600" cy="5080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11963400" y="1397000"/>
            <a:ext cx="3530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4: NOTIFY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115800" y="2006600"/>
            <a:ext cx="3225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_notify.yml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15800" y="2362200"/>
            <a:ext cx="32258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Slack Webhook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status notification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Success/failure status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 name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name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DEVSECOPS — SECURITY SCANNING MATRIX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F97316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46200"/>
          <a:ext cx="14732000" cy="3556001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Security Layer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What It Scans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Threshold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It Runs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Container Vulns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9731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Trivy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Docker image OS/packages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9731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CRITICAL, HIGH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Every build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Dependency Vulns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9731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Snyk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Maven/npm dependencies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Configurable (high)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Every build or on-demand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Code Quality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9731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SonarQube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Source code, smells, coverage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Quality Gate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Every build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Network Segmentation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NetworkPolicy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Pod-to-pod traffic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Namespace isolation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Deploy-time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12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Secrets Mgmt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K8s Secrets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JWT, DB credentials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In-cluster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Deploy-time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156200"/>
            <a:ext cx="4699000" cy="2794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2000" y="5156200"/>
            <a:ext cx="4699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965200" y="5308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TRIVY DETAILS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5200" y="5689600"/>
            <a:ext cx="42926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Scans built Docker images before push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Severity filter: CRITICAL, HIGH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Table output + SARIF format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GitHub Security tab integration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ignoreUnfixed flag for FP control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4200" y="5156200"/>
            <a:ext cx="4699000" cy="2794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7"/>
          <p:cNvSpPr/>
          <p:nvPr/>
        </p:nvSpPr>
        <p:spPr>
          <a:xfrm>
            <a:off x="5664200" y="5156200"/>
            <a:ext cx="4699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5867400" y="5308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SNYK DETAILS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67400" y="5689600"/>
            <a:ext cx="42926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Maven: snyk test --severity-threshold=high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Node: Snyk GitHub Action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Uploads SARIF artifact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Audit trail for compliance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566400" y="5156200"/>
            <a:ext cx="4927600" cy="2794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566400" y="5156200"/>
            <a:ext cx="49276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10769600" y="5308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SONARQUBE DETAILS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69600" y="5689600"/>
            <a:ext cx="45212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Java: mvn verify sonar:sonar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Node: SonarSource GitHub Action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Code quality analysis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Duplication detection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Coverage reporting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GitOps WITH ARGOCD — "GIT AS SOURCE OF TRUTH"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46200"/>
            <a:ext cx="7112000" cy="304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46200"/>
            <a:ext cx="50800" cy="3048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47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ARGOCD INSTALLATION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8288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Helm chart from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argo/argo-cd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repository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Custom values: NodePort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30080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Resource limits for small clusters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Dex disabled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Namespace: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argocd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572000"/>
            <a:ext cx="7112000" cy="355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4572000"/>
            <a:ext cx="50800" cy="3556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4673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ARGOCD CONFIGURATION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5054600"/>
            <a:ext cx="660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AppProject: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library-e2e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Defines allowed source repos and destination namespaces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of Apps Pattern: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library-root (dev) → watches argocd-apps/ on dev branch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library-root-prod → watches argocd-apps-prod/ on production branch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directory: recurse: true (auto-discovers manifests)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1346200"/>
            <a:ext cx="7366000" cy="304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8000" y="1346200"/>
            <a:ext cx="50800" cy="304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1447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INDIVIDUAL APPLICATIONS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1828800"/>
            <a:ext cx="685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Application per service: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book-service, borrow-service, user-service,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frontend, mongodb, gateway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Sync-wave annotations for ordering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sync-wave: "0"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microservices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Higher waves for infrastructure deps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0" y="4572000"/>
            <a:ext cx="7366000" cy="355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8000" y="4572000"/>
            <a:ext cx="50800" cy="35560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0" y="4673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A85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 POLICY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5054600"/>
            <a:ext cx="685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automated: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prune: true, selfHeal: true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CreateNamespace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true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ServerSideApply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true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revisionHistoryLimit: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Retry Policy: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3 attempts with exponential backoff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5s → 10s → 20s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GitOps FLOW — DEVELOPER TO PRODUCTION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46200"/>
            <a:ext cx="7366000" cy="558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46200"/>
            <a:ext cx="736600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46200"/>
            <a:ext cx="736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 1: DEVELOPER → DEV ENVIRONMENT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1955800"/>
            <a:ext cx="69088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Developer pushes feature branch → merges to </a:t>
            </a:r>
            <a:r>
              <a:rPr lang="en-US" sz="13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Service CI triggers → _build_trivy.yml → _push.yml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_update_helm_chart.yml updates </a:t>
            </a:r>
            <a:r>
              <a:rPr lang="en-US" sz="13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values-dev.yaml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ArgoCD detects commit (polls every 3 min)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ArgoCD runs helm template with values-dev.yaml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Kubernetes applies to </a:t>
            </a:r>
            <a:r>
              <a:rPr lang="en-US" sz="13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library-dev</a:t>
            </a: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namespace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New pods roll out (1 replica, dev image tag)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346200"/>
            <a:ext cx="7112000" cy="558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82000" y="1346200"/>
            <a:ext cx="7112000" cy="457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13462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 2: PROMOTE TO PRODUCTION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10600" y="1955800"/>
            <a:ext cx="66548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PR from dev → production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ChapterOne-Helm repository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Merge triggers or manual promotion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ArgoCD detects commit 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branch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Syncs to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library-prod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namespace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Production pods roll out: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3 replicas per service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HPA enabled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TLS termination 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Semantic version tags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7162800"/>
            <a:ext cx="14732000" cy="558800"/>
          </a:xfrm>
          <a:prstGeom prst="rect">
            <a:avLst/>
          </a:prstGeom>
          <a:solidFill>
            <a:srgbClr val="F97316">
              <a:alpha val="12549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6000" y="723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473200" y="7162800"/>
            <a:ext cx="1371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human runs helm upgrade or kubectl apply.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ArgoCD is the ONLY actor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touching cluster state.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KUBERNETES NETWORK 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46200"/>
            <a:ext cx="7112000" cy="1397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46200"/>
            <a:ext cx="50800" cy="1397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47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803400"/>
            <a:ext cx="660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Kubernetes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NetworkPolicy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acts as a namespace firewall — controlling which pods can communicate with each other at the network level.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1346200"/>
            <a:ext cx="7366000" cy="304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8000" y="1346200"/>
            <a:ext cx="50800" cy="3048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1447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IMPLEMENTATION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1828800"/>
            <a:ext cx="685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permissive policy: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Allow all intra-namespace traffic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Allow DNS resolution (port 53)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Allow MongoDB access (port 27017)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Block cross-namespace traffic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Dynamic: uses {{ .Values.global.namespace }}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946400"/>
            <a:ext cx="7112000" cy="1524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" y="3048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&amp; SCOPE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34036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Dev: applies to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library-dev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Prod: applies to </a:t>
            </a:r>
            <a:r>
              <a:rPr lang="en-US" sz="14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library-prod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Scope: All pods in namespace (podSelector: {})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597400"/>
            <a:ext cx="7112000" cy="1397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" y="4699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USE CASES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5054600"/>
            <a:ext cx="660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Multi-tenant SaaS, microservices segmentation, zero-trust architecture, compliance (SOC2, GDPR)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4597400"/>
            <a:ext cx="7366000" cy="1397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8000" y="4597400"/>
            <a:ext cx="50800" cy="1397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4699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DEFENSE IN DEPTH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5054600"/>
            <a:ext cx="6858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NetworkPolicy + Image Scanning + RBAC + Secrets Management + Runtime Security = layered security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 smtClean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SEALED SECRETS — GIT-SAFE ENCRYPTION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46200"/>
            <a:ext cx="7112000" cy="330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46200"/>
            <a:ext cx="50800" cy="3302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47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KUBERNETES SECRETS DEFINED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828800"/>
            <a:ext cx="660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1500" b="1" dirty="0" smtClean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GB" sz="1500" b="1" dirty="0" smtClean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Kubernetes Secrets are only base64-encoded  — not encrypted.</a:t>
            </a:r>
            <a:endParaRPr lang="en-US" sz="1600" b="1" dirty="0" smtClean="0"/>
          </a:p>
          <a:p>
            <a:pPr>
              <a:lnSpc>
                <a:spcPct val="200000"/>
              </a:lnSpc>
            </a:pPr>
            <a:r>
              <a:rPr lang="en-US" sz="1500" b="1" dirty="0" smtClean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</a:t>
            </a:r>
            <a:r>
              <a:rPr lang="en-GB" sz="1500" b="1" dirty="0" err="1" smtClean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SealedSecret</a:t>
            </a:r>
            <a:r>
              <a:rPr lang="en-GB" sz="1500" b="1" dirty="0" smtClean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encrypted for library-prod  cannot  be decrypted in library-dev or default. This prevents accidental secret leakage across environments.</a:t>
            </a:r>
          </a:p>
          <a:p>
            <a:pPr>
              <a:lnSpc>
                <a:spcPct val="200000"/>
              </a:lnSpc>
            </a:pPr>
            <a:r>
              <a:rPr lang="en-US" sz="1500" b="1" dirty="0" smtClean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borrow-service-secret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service credentials</a:t>
            </a:r>
            <a:endParaRPr lang="en-US" sz="1600" b="1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1346200"/>
            <a:ext cx="7366000" cy="330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8000" y="1346200"/>
            <a:ext cx="50800" cy="3302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1447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 VS PRODUCTION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1828800"/>
            <a:ext cx="685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JWT_SECRET: "dev-jwt-secret-not-for-production"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 smtClean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Sealed Secrets</a:t>
            </a:r>
          </a:p>
          <a:p>
            <a:pPr>
              <a:lnSpc>
                <a:spcPct val="160000"/>
              </a:lnSpc>
            </a:pPr>
            <a:r>
              <a:rPr lang="en-US" sz="1400" dirty="0" err="1" smtClean="0">
                <a:solidFill>
                  <a:schemeClr val="bg1"/>
                </a:solidFill>
                <a:latin typeface="Quattrocento Sans" panose="020B0604020202020204" charset="0"/>
              </a:rPr>
              <a:t>ArgoCD</a:t>
            </a:r>
            <a:r>
              <a:rPr lang="en-US" sz="1400" dirty="0" smtClean="0">
                <a:solidFill>
                  <a:schemeClr val="bg1"/>
                </a:solidFill>
                <a:latin typeface="Quattrocento Sans" panose="020B0604020202020204" charset="0"/>
              </a:rPr>
              <a:t> syncs the `</a:t>
            </a:r>
            <a:r>
              <a:rPr lang="en-US" sz="1400" dirty="0" err="1" smtClean="0">
                <a:solidFill>
                  <a:schemeClr val="bg1"/>
                </a:solidFill>
                <a:latin typeface="Quattrocento Sans" panose="020B0604020202020204" charset="0"/>
              </a:rPr>
              <a:t>SealedSecret</a:t>
            </a:r>
            <a:r>
              <a:rPr lang="en-US" sz="1400" dirty="0" smtClean="0">
                <a:solidFill>
                  <a:schemeClr val="bg1"/>
                </a:solidFill>
                <a:latin typeface="Quattrocento Sans" panose="020B0604020202020204" charset="0"/>
              </a:rPr>
              <a:t>` → Controller decrypts → creates native `Secret` automatically</a:t>
            </a:r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300" dirty="0" smtClean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</a:t>
            </a: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has its own ConfigMap for non-sensitive config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876800"/>
            <a:ext cx="14732000" cy="3175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4876800"/>
            <a:ext cx="14732000" cy="50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0292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</a:t>
            </a:r>
            <a:r>
              <a:rPr lang="en-US" dirty="0" smtClean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461000"/>
            <a:ext cx="1422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Sealed Secrets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(Bitnami) — encrypt secrets for Git storage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Secrets Operator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integrate with cloud KMS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HashiCorp Vault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dynamic secrets and secret rotation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 secret rotation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automated credential lifecycle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 Init ConfigMap: seeds database with 20 sample books on first startup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PROTECTION &amp; GOVERNANCE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46200"/>
            <a:ext cx="7112000" cy="1524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46200"/>
            <a:ext cx="50800" cy="1524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47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STRATEGY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803400"/>
            <a:ext cx="6604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branch — Active development, auto-deploy to dev environment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branch — Protected, deploys to production only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1346200"/>
            <a:ext cx="7366000" cy="355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8000" y="1346200"/>
            <a:ext cx="50800" cy="3556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1447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PROTECTION RULES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1828800"/>
            <a:ext cx="685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Require PR before merging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Require 1 approval minimum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Dismiss stale approvals on new commits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Require status checks (helm-validate)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Block force pushes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Restrict push access to admins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073400"/>
            <a:ext cx="7112000" cy="193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3073400"/>
            <a:ext cx="50800" cy="1930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175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HELM VALIDATION WORKFLOW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3530600"/>
            <a:ext cx="6604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Runs on every PR to dev and production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Validates YAML syntax with yq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Lints all subcharts with helm lint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Dry-run with values-dev.yaml and values-prod.yaml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130800"/>
            <a:ext cx="14732000" cy="1524000"/>
          </a:xfrm>
          <a:prstGeom prst="rect">
            <a:avLst/>
          </a:prstGeom>
          <a:solidFill>
            <a:srgbClr val="F97316">
              <a:alpha val="8235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000" y="558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5283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CD BYPASS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" y="5638800"/>
            <a:ext cx="13716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_update_helm_chart.yml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pushes directly using PAT — this is </a:t>
            </a: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intentional</a:t>
            </a: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CI/CD automation.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changes must always go through PRs with required reviews and status checks.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MONITORING, OPERATIONS &amp; ROLLBACK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46200"/>
            <a:ext cx="7112000" cy="355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46200"/>
            <a:ext cx="50800" cy="3556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447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 smtClean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OPERATIONS </a:t>
            </a:r>
            <a:r>
              <a:rPr lang="en-US" sz="16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ARGOCD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828800"/>
            <a:ext cx="660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argocd app list</a:t>
            </a: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View all app statuses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argocd app get &lt;app&gt;</a:t>
            </a: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Sync status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argocd app sync &lt;app&gt;</a:t>
            </a: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Manual sync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argocd app history &lt;app&gt;</a:t>
            </a: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History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argocd app rollback &lt;app&gt; &lt;rev&gt;</a:t>
            </a: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Rollback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1346200"/>
            <a:ext cx="7366000" cy="1803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8000" y="1346200"/>
            <a:ext cx="50800" cy="1803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1447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HELM ROLLBACK (NATIVE)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1828800"/>
            <a:ext cx="685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helm history library-dev -n library-dev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revision history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helm rollback library-dev -n library-dev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Rollback to previous revision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3200400"/>
            <a:ext cx="7366000" cy="1701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8000" y="3200400"/>
            <a:ext cx="50800" cy="1701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3302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TROUBLESHOOTING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3657600"/>
            <a:ext cx="685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Pod logs, describe, events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Service endpoints and DNS resolution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Network policy verification with test pods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PVC status for MongoDB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130800"/>
            <a:ext cx="14732000" cy="292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5130800"/>
            <a:ext cx="14732000" cy="50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2832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GitOps ADVANTAGES FOR OPERATIONS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715000"/>
            <a:ext cx="142240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audit trail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Git — who changed what, when, with full history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Declarative state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cluster always matches Git, drift is impossible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Self-healing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ArgoCD reverts any manual cluster changes automatically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Pruning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removes resources not defined in Git, preventing resource leaks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TOOLCHAIN &amp;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326CE5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976546"/>
              </p:ext>
            </p:extLst>
          </p:nvPr>
        </p:nvGraphicFramePr>
        <p:xfrm>
          <a:off x="762000" y="1346200"/>
          <a:ext cx="14732000" cy="6398243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754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Technology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75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Orchestration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Kubernetes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Container orchestration and scheduling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5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Package Manager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26CE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Helm 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Kubernetes manifest templating and packaging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75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GitOps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ArgoCD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 delivery from Git — cluster state sync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75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Gateway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26CE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KGateway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Gateway API for ingress and path-based routing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75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Database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2C55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MongoDB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Document storage (StatefulSet with persistence)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75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Storage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26CE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nfs-client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StorageClass for persistent volumes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75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CI/CD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26CE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GitHub Actions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Build, test, deploy automation with reusable workflows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75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Registry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26CE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Docker Hub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Image storage (googleyy/* organization)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975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Security Scan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9731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Trivy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Container vulnerability scanning (CRITICAL, HIGH)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975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Dependency Scan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9731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Snyk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Dependency vulnerability scanning (Maven, npm)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975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Code Quality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9731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SonarQube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Static analysis, code smells, coverage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975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YAML Processing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26CE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yq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Automated values file editing in CI pipeline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144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Version Control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326CE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Git + GitHub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1F5F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Source of truth for code and configuration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 &amp;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3492500" cy="292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1400" y="1600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63500" y="82550"/>
                </a:moveTo>
                <a:cubicBezTo>
                  <a:pt x="74014" y="82550"/>
                  <a:pt x="82550" y="74014"/>
                  <a:pt x="82550" y="63500"/>
                </a:cubicBezTo>
                <a:cubicBezTo>
                  <a:pt x="82550" y="52986"/>
                  <a:pt x="74014" y="44450"/>
                  <a:pt x="63500" y="44450"/>
                </a:cubicBezTo>
                <a:cubicBezTo>
                  <a:pt x="52986" y="44450"/>
                  <a:pt x="44450" y="52986"/>
                  <a:pt x="44450" y="63500"/>
                </a:cubicBezTo>
                <a:cubicBezTo>
                  <a:pt x="44450" y="74014"/>
                  <a:pt x="52986" y="82550"/>
                  <a:pt x="63500" y="82550"/>
                </a:cubicBezTo>
                <a:close/>
                <a:moveTo>
                  <a:pt x="127000" y="63500"/>
                </a:moveTo>
                <a:cubicBezTo>
                  <a:pt x="127000" y="89535"/>
                  <a:pt x="111363" y="111919"/>
                  <a:pt x="88900" y="121682"/>
                </a:cubicBezTo>
                <a:lnTo>
                  <a:pt x="88900" y="177800"/>
                </a:lnTo>
                <a:lnTo>
                  <a:pt x="228600" y="177800"/>
                </a:lnTo>
                <a:cubicBezTo>
                  <a:pt x="249634" y="177800"/>
                  <a:pt x="266700" y="160734"/>
                  <a:pt x="266700" y="139700"/>
                </a:cubicBezTo>
                <a:lnTo>
                  <a:pt x="266700" y="121682"/>
                </a:lnTo>
                <a:cubicBezTo>
                  <a:pt x="244237" y="111919"/>
                  <a:pt x="228600" y="89535"/>
                  <a:pt x="228600" y="63500"/>
                </a:cubicBezTo>
                <a:cubicBezTo>
                  <a:pt x="228600" y="28416"/>
                  <a:pt x="257016" y="0"/>
                  <a:pt x="292100" y="0"/>
                </a:cubicBezTo>
                <a:cubicBezTo>
                  <a:pt x="327184" y="0"/>
                  <a:pt x="355600" y="28416"/>
                  <a:pt x="355600" y="63500"/>
                </a:cubicBezTo>
                <a:cubicBezTo>
                  <a:pt x="355600" y="89535"/>
                  <a:pt x="339963" y="111919"/>
                  <a:pt x="317500" y="121682"/>
                </a:cubicBezTo>
                <a:lnTo>
                  <a:pt x="317500" y="139700"/>
                </a:lnTo>
                <a:cubicBezTo>
                  <a:pt x="317500" y="188833"/>
                  <a:pt x="277733" y="228600"/>
                  <a:pt x="228600" y="228600"/>
                </a:cubicBezTo>
                <a:lnTo>
                  <a:pt x="88900" y="228600"/>
                </a:lnTo>
                <a:lnTo>
                  <a:pt x="88900" y="284718"/>
                </a:lnTo>
                <a:cubicBezTo>
                  <a:pt x="111363" y="294481"/>
                  <a:pt x="127000" y="316865"/>
                  <a:pt x="127000" y="342900"/>
                </a:cubicBezTo>
                <a:cubicBezTo>
                  <a:pt x="127000" y="377984"/>
                  <a:pt x="98584" y="406400"/>
                  <a:pt x="63500" y="406400"/>
                </a:cubicBezTo>
                <a:cubicBezTo>
                  <a:pt x="28416" y="406400"/>
                  <a:pt x="0" y="377984"/>
                  <a:pt x="0" y="342900"/>
                </a:cubicBezTo>
                <a:cubicBezTo>
                  <a:pt x="0" y="316865"/>
                  <a:pt x="15637" y="294481"/>
                  <a:pt x="38100" y="284718"/>
                </a:cubicBezTo>
                <a:lnTo>
                  <a:pt x="38100" y="121761"/>
                </a:lnTo>
                <a:cubicBezTo>
                  <a:pt x="15637" y="111919"/>
                  <a:pt x="0" y="89535"/>
                  <a:pt x="0" y="63500"/>
                </a:cubicBezTo>
                <a:cubicBezTo>
                  <a:pt x="0" y="28416"/>
                  <a:pt x="28416" y="0"/>
                  <a:pt x="63500" y="0"/>
                </a:cubicBezTo>
                <a:cubicBezTo>
                  <a:pt x="98584" y="0"/>
                  <a:pt x="127000" y="28416"/>
                  <a:pt x="127000" y="63500"/>
                </a:cubicBezTo>
                <a:close/>
                <a:moveTo>
                  <a:pt x="311150" y="63500"/>
                </a:moveTo>
                <a:cubicBezTo>
                  <a:pt x="311150" y="52986"/>
                  <a:pt x="302614" y="44450"/>
                  <a:pt x="292100" y="44450"/>
                </a:cubicBezTo>
                <a:cubicBezTo>
                  <a:pt x="281586" y="44450"/>
                  <a:pt x="273050" y="52986"/>
                  <a:pt x="273050" y="63500"/>
                </a:cubicBezTo>
                <a:cubicBezTo>
                  <a:pt x="273050" y="74014"/>
                  <a:pt x="281586" y="82550"/>
                  <a:pt x="292100" y="82550"/>
                </a:cubicBezTo>
                <a:cubicBezTo>
                  <a:pt x="302614" y="82550"/>
                  <a:pt x="311150" y="74014"/>
                  <a:pt x="311150" y="63500"/>
                </a:cubicBezTo>
                <a:close/>
                <a:moveTo>
                  <a:pt x="63500" y="361950"/>
                </a:moveTo>
                <a:cubicBezTo>
                  <a:pt x="74014" y="361950"/>
                  <a:pt x="82550" y="353414"/>
                  <a:pt x="82550" y="342900"/>
                </a:cubicBezTo>
                <a:cubicBezTo>
                  <a:pt x="82550" y="332386"/>
                  <a:pt x="74014" y="323850"/>
                  <a:pt x="63500" y="323850"/>
                </a:cubicBezTo>
                <a:cubicBezTo>
                  <a:pt x="52986" y="323850"/>
                  <a:pt x="44450" y="332386"/>
                  <a:pt x="44450" y="342900"/>
                </a:cubicBezTo>
                <a:cubicBezTo>
                  <a:pt x="44450" y="353414"/>
                  <a:pt x="52986" y="361950"/>
                  <a:pt x="63500" y="361950"/>
                </a:cubicBezTo>
                <a:close/>
              </a:path>
            </a:pathLst>
          </a:cu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133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MULTI-REPO CI/CD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7686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microservices + frontend sharing identical reusable GitHub Actions workflows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08500" y="1397000"/>
            <a:ext cx="3492500" cy="292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11700" y="16002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762500" y="2133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MANUAL CLUSTER ACCESS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2500" y="27686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deployments automated via GitOps — no human kubectl or helm upgrade on cluster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1397000"/>
            <a:ext cx="3492500" cy="292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9000" y="1600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8509000" y="2133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GATES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9000" y="27686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scanning tools in every pipeline: Trivy, Snyk, and SonarQube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001500" y="1397000"/>
            <a:ext cx="3492500" cy="292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80900" y="1600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5400" y="101600"/>
                </a:moveTo>
                <a:cubicBezTo>
                  <a:pt x="11351" y="101600"/>
                  <a:pt x="0" y="112951"/>
                  <a:pt x="0" y="127000"/>
                </a:cubicBezTo>
                <a:cubicBezTo>
                  <a:pt x="0" y="141049"/>
                  <a:pt x="11351" y="152400"/>
                  <a:pt x="25400" y="152400"/>
                </a:cubicBezTo>
                <a:lnTo>
                  <a:pt x="330200" y="152400"/>
                </a:lnTo>
                <a:cubicBezTo>
                  <a:pt x="344249" y="152400"/>
                  <a:pt x="355600" y="141049"/>
                  <a:pt x="355600" y="127000"/>
                </a:cubicBezTo>
                <a:cubicBezTo>
                  <a:pt x="355600" y="112951"/>
                  <a:pt x="344249" y="101600"/>
                  <a:pt x="330200" y="101600"/>
                </a:cubicBezTo>
                <a:lnTo>
                  <a:pt x="25400" y="101600"/>
                </a:lnTo>
                <a:close/>
                <a:moveTo>
                  <a:pt x="25400" y="254000"/>
                </a:moveTo>
                <a:cubicBezTo>
                  <a:pt x="11351" y="254000"/>
                  <a:pt x="0" y="265351"/>
                  <a:pt x="0" y="279400"/>
                </a:cubicBezTo>
                <a:cubicBezTo>
                  <a:pt x="0" y="293449"/>
                  <a:pt x="11351" y="304800"/>
                  <a:pt x="25400" y="304800"/>
                </a:cubicBezTo>
                <a:lnTo>
                  <a:pt x="330200" y="304800"/>
                </a:lnTo>
                <a:cubicBezTo>
                  <a:pt x="344249" y="304800"/>
                  <a:pt x="355600" y="293449"/>
                  <a:pt x="355600" y="279400"/>
                </a:cubicBezTo>
                <a:cubicBezTo>
                  <a:pt x="355600" y="265351"/>
                  <a:pt x="344249" y="254000"/>
                  <a:pt x="330200" y="254000"/>
                </a:cubicBezTo>
                <a:lnTo>
                  <a:pt x="25400" y="254000"/>
                </a:lnTo>
                <a:close/>
              </a:path>
            </a:pathLst>
          </a:custGeom>
          <a:solidFill>
            <a:srgbClr val="326CE5"/>
          </a:solidFill>
          <a:ln/>
        </p:spPr>
      </p:sp>
      <p:sp>
        <p:nvSpPr>
          <p:cNvPr id="18" name="Text 16"/>
          <p:cNvSpPr/>
          <p:nvPr/>
        </p:nvSpPr>
        <p:spPr>
          <a:xfrm>
            <a:off x="12255500" y="2133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PARITY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255500" y="27686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Helm chart, different values files — guaranteed parity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572000"/>
            <a:ext cx="3492500" cy="292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000" y="477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050" y="152400"/>
                </a:moveTo>
                <a:lnTo>
                  <a:pt x="133350" y="152400"/>
                </a:lnTo>
                <a:cubicBezTo>
                  <a:pt x="141049" y="152400"/>
                  <a:pt x="148034" y="147796"/>
                  <a:pt x="150971" y="140652"/>
                </a:cubicBezTo>
                <a:cubicBezTo>
                  <a:pt x="153908" y="133509"/>
                  <a:pt x="152321" y="125333"/>
                  <a:pt x="146844" y="119856"/>
                </a:cubicBezTo>
                <a:lnTo>
                  <a:pt x="109776" y="82788"/>
                </a:lnTo>
                <a:cubicBezTo>
                  <a:pt x="169545" y="36274"/>
                  <a:pt x="256064" y="40481"/>
                  <a:pt x="310991" y="95409"/>
                </a:cubicBezTo>
                <a:cubicBezTo>
                  <a:pt x="370523" y="154940"/>
                  <a:pt x="370523" y="251381"/>
                  <a:pt x="310991" y="310912"/>
                </a:cubicBezTo>
                <a:cubicBezTo>
                  <a:pt x="251460" y="370443"/>
                  <a:pt x="155019" y="370443"/>
                  <a:pt x="95488" y="310912"/>
                </a:cubicBezTo>
                <a:cubicBezTo>
                  <a:pt x="87392" y="302816"/>
                  <a:pt x="80407" y="294005"/>
                  <a:pt x="74533" y="284718"/>
                </a:cubicBezTo>
                <a:cubicBezTo>
                  <a:pt x="66993" y="272891"/>
                  <a:pt x="51276" y="269399"/>
                  <a:pt x="39449" y="276939"/>
                </a:cubicBezTo>
                <a:cubicBezTo>
                  <a:pt x="27622" y="284480"/>
                  <a:pt x="24130" y="300196"/>
                  <a:pt x="31671" y="312023"/>
                </a:cubicBezTo>
                <a:cubicBezTo>
                  <a:pt x="39449" y="324406"/>
                  <a:pt x="48736" y="336153"/>
                  <a:pt x="59531" y="346869"/>
                </a:cubicBezTo>
                <a:cubicBezTo>
                  <a:pt x="138906" y="426244"/>
                  <a:pt x="267494" y="426244"/>
                  <a:pt x="346869" y="346869"/>
                </a:cubicBezTo>
                <a:cubicBezTo>
                  <a:pt x="426244" y="267494"/>
                  <a:pt x="426244" y="138906"/>
                  <a:pt x="346869" y="59531"/>
                </a:cubicBezTo>
                <a:cubicBezTo>
                  <a:pt x="272098" y="-15319"/>
                  <a:pt x="153432" y="-19606"/>
                  <a:pt x="73581" y="46673"/>
                </a:cubicBezTo>
                <a:lnTo>
                  <a:pt x="32544" y="5556"/>
                </a:lnTo>
                <a:cubicBezTo>
                  <a:pt x="27067" y="159"/>
                  <a:pt x="18891" y="-1508"/>
                  <a:pt x="11748" y="1429"/>
                </a:cubicBezTo>
                <a:cubicBezTo>
                  <a:pt x="4604" y="4366"/>
                  <a:pt x="0" y="11351"/>
                  <a:pt x="0" y="19050"/>
                </a:cubicBezTo>
                <a:lnTo>
                  <a:pt x="0" y="133350"/>
                </a:lnTo>
                <a:cubicBezTo>
                  <a:pt x="0" y="143907"/>
                  <a:pt x="8493" y="152400"/>
                  <a:pt x="19050" y="15240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5308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SUB-MINUTE ROLLBACK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59436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Rollback via Git revert or ArgoCD history — under 60 seconds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08500" y="4572000"/>
            <a:ext cx="3492500" cy="292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7100" y="47752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5400" y="94774"/>
                </a:moveTo>
                <a:cubicBezTo>
                  <a:pt x="10239" y="86043"/>
                  <a:pt x="0" y="69612"/>
                  <a:pt x="0" y="50800"/>
                </a:cubicBezTo>
                <a:cubicBezTo>
                  <a:pt x="0" y="22781"/>
                  <a:pt x="22781" y="0"/>
                  <a:pt x="50800" y="0"/>
                </a:cubicBezTo>
                <a:cubicBezTo>
                  <a:pt x="69612" y="0"/>
                  <a:pt x="86043" y="10239"/>
                  <a:pt x="94774" y="25400"/>
                </a:cubicBezTo>
                <a:lnTo>
                  <a:pt x="362347" y="25400"/>
                </a:lnTo>
                <a:cubicBezTo>
                  <a:pt x="371158" y="10239"/>
                  <a:pt x="387509" y="0"/>
                  <a:pt x="406321" y="0"/>
                </a:cubicBezTo>
                <a:cubicBezTo>
                  <a:pt x="434340" y="0"/>
                  <a:pt x="457121" y="22781"/>
                  <a:pt x="457121" y="50800"/>
                </a:cubicBezTo>
                <a:cubicBezTo>
                  <a:pt x="457121" y="69612"/>
                  <a:pt x="446881" y="86043"/>
                  <a:pt x="431721" y="94774"/>
                </a:cubicBezTo>
                <a:lnTo>
                  <a:pt x="431721" y="311547"/>
                </a:lnTo>
                <a:cubicBezTo>
                  <a:pt x="446881" y="320358"/>
                  <a:pt x="457121" y="336709"/>
                  <a:pt x="457121" y="355521"/>
                </a:cubicBezTo>
                <a:cubicBezTo>
                  <a:pt x="457121" y="383540"/>
                  <a:pt x="434340" y="406321"/>
                  <a:pt x="406321" y="406321"/>
                </a:cubicBezTo>
                <a:cubicBezTo>
                  <a:pt x="387509" y="406321"/>
                  <a:pt x="371078" y="396081"/>
                  <a:pt x="362347" y="380921"/>
                </a:cubicBezTo>
                <a:lnTo>
                  <a:pt x="94774" y="380921"/>
                </a:lnTo>
                <a:cubicBezTo>
                  <a:pt x="85963" y="396081"/>
                  <a:pt x="69612" y="406321"/>
                  <a:pt x="50800" y="406321"/>
                </a:cubicBezTo>
                <a:cubicBezTo>
                  <a:pt x="22781" y="406321"/>
                  <a:pt x="0" y="383540"/>
                  <a:pt x="0" y="355521"/>
                </a:cubicBezTo>
                <a:cubicBezTo>
                  <a:pt x="0" y="336709"/>
                  <a:pt x="10239" y="320278"/>
                  <a:pt x="25400" y="311547"/>
                </a:cubicBezTo>
                <a:lnTo>
                  <a:pt x="25400" y="94774"/>
                </a:lnTo>
                <a:close/>
                <a:moveTo>
                  <a:pt x="381000" y="94774"/>
                </a:moveTo>
                <a:cubicBezTo>
                  <a:pt x="373301" y="90329"/>
                  <a:pt x="366871" y="83899"/>
                  <a:pt x="362426" y="76200"/>
                </a:cubicBezTo>
                <a:lnTo>
                  <a:pt x="94774" y="76200"/>
                </a:lnTo>
                <a:cubicBezTo>
                  <a:pt x="90329" y="83899"/>
                  <a:pt x="83899" y="90329"/>
                  <a:pt x="76200" y="94774"/>
                </a:cubicBezTo>
                <a:lnTo>
                  <a:pt x="76200" y="311547"/>
                </a:lnTo>
                <a:cubicBezTo>
                  <a:pt x="83899" y="315992"/>
                  <a:pt x="90329" y="322421"/>
                  <a:pt x="94774" y="330121"/>
                </a:cubicBezTo>
                <a:lnTo>
                  <a:pt x="362347" y="330121"/>
                </a:lnTo>
                <a:cubicBezTo>
                  <a:pt x="366792" y="322421"/>
                  <a:pt x="373221" y="315992"/>
                  <a:pt x="380921" y="311547"/>
                </a:cubicBezTo>
                <a:lnTo>
                  <a:pt x="380921" y="94774"/>
                </a:lnTo>
                <a:close/>
                <a:moveTo>
                  <a:pt x="114300" y="139700"/>
                </a:moveTo>
                <a:cubicBezTo>
                  <a:pt x="114300" y="125651"/>
                  <a:pt x="125651" y="114300"/>
                  <a:pt x="139700" y="114300"/>
                </a:cubicBezTo>
                <a:lnTo>
                  <a:pt x="228600" y="114300"/>
                </a:lnTo>
                <a:cubicBezTo>
                  <a:pt x="242649" y="114300"/>
                  <a:pt x="254000" y="125651"/>
                  <a:pt x="254000" y="139700"/>
                </a:cubicBezTo>
                <a:lnTo>
                  <a:pt x="254000" y="190500"/>
                </a:lnTo>
                <a:cubicBezTo>
                  <a:pt x="254000" y="204549"/>
                  <a:pt x="242649" y="215900"/>
                  <a:pt x="228600" y="215900"/>
                </a:cubicBezTo>
                <a:lnTo>
                  <a:pt x="139700" y="215900"/>
                </a:lnTo>
                <a:cubicBezTo>
                  <a:pt x="125651" y="215900"/>
                  <a:pt x="114300" y="204549"/>
                  <a:pt x="114300" y="190500"/>
                </a:cubicBezTo>
                <a:lnTo>
                  <a:pt x="114300" y="139700"/>
                </a:lnTo>
                <a:close/>
                <a:moveTo>
                  <a:pt x="203200" y="254000"/>
                </a:moveTo>
                <a:lnTo>
                  <a:pt x="228600" y="254000"/>
                </a:lnTo>
                <a:cubicBezTo>
                  <a:pt x="263684" y="254000"/>
                  <a:pt x="292100" y="225584"/>
                  <a:pt x="292100" y="190500"/>
                </a:cubicBezTo>
                <a:lnTo>
                  <a:pt x="317500" y="190500"/>
                </a:lnTo>
                <a:cubicBezTo>
                  <a:pt x="331549" y="190500"/>
                  <a:pt x="342900" y="201851"/>
                  <a:pt x="342900" y="215900"/>
                </a:cubicBezTo>
                <a:lnTo>
                  <a:pt x="342900" y="266700"/>
                </a:lnTo>
                <a:cubicBezTo>
                  <a:pt x="342900" y="280749"/>
                  <a:pt x="331549" y="292100"/>
                  <a:pt x="317500" y="292100"/>
                </a:cubicBezTo>
                <a:lnTo>
                  <a:pt x="228600" y="292100"/>
                </a:lnTo>
                <a:cubicBezTo>
                  <a:pt x="214551" y="292100"/>
                  <a:pt x="203200" y="280749"/>
                  <a:pt x="203200" y="266700"/>
                </a:cubicBezTo>
                <a:lnTo>
                  <a:pt x="203200" y="254000"/>
                </a:lnTo>
                <a:close/>
              </a:path>
            </a:pathLst>
          </a:custGeom>
          <a:solidFill>
            <a:srgbClr val="326CE5"/>
          </a:solidFill>
          <a:ln/>
        </p:spPr>
      </p:sp>
      <p:sp>
        <p:nvSpPr>
          <p:cNvPr id="26" name="Text 24"/>
          <p:cNvSpPr/>
          <p:nvPr/>
        </p:nvSpPr>
        <p:spPr>
          <a:xfrm>
            <a:off x="4762500" y="5308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 ISOLATION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62500" y="59436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dev/prod separation within a single cluster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55000" y="4572000"/>
            <a:ext cx="3492500" cy="292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9000" y="477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6200" y="25400"/>
                </a:moveTo>
                <a:cubicBezTo>
                  <a:pt x="62151" y="25400"/>
                  <a:pt x="50800" y="36751"/>
                  <a:pt x="50800" y="50800"/>
                </a:cubicBezTo>
                <a:cubicBezTo>
                  <a:pt x="50800" y="64849"/>
                  <a:pt x="62151" y="76200"/>
                  <a:pt x="76200" y="76200"/>
                </a:cubicBezTo>
                <a:lnTo>
                  <a:pt x="91043" y="76200"/>
                </a:lnTo>
                <a:lnTo>
                  <a:pt x="7461" y="159861"/>
                </a:lnTo>
                <a:cubicBezTo>
                  <a:pt x="-2461" y="169783"/>
                  <a:pt x="-2461" y="185896"/>
                  <a:pt x="7461" y="195818"/>
                </a:cubicBezTo>
                <a:cubicBezTo>
                  <a:pt x="17383" y="205740"/>
                  <a:pt x="33496" y="205740"/>
                  <a:pt x="43418" y="195818"/>
                </a:cubicBezTo>
                <a:lnTo>
                  <a:pt x="127000" y="112157"/>
                </a:lnTo>
                <a:lnTo>
                  <a:pt x="127000" y="127000"/>
                </a:lnTo>
                <a:cubicBezTo>
                  <a:pt x="127000" y="141049"/>
                  <a:pt x="138351" y="152400"/>
                  <a:pt x="152400" y="152400"/>
                </a:cubicBezTo>
                <a:cubicBezTo>
                  <a:pt x="166449" y="152400"/>
                  <a:pt x="177800" y="141049"/>
                  <a:pt x="177800" y="127000"/>
                </a:cubicBezTo>
                <a:lnTo>
                  <a:pt x="177800" y="50800"/>
                </a:lnTo>
                <a:cubicBezTo>
                  <a:pt x="177800" y="36751"/>
                  <a:pt x="166449" y="25400"/>
                  <a:pt x="152400" y="25400"/>
                </a:cubicBezTo>
                <a:lnTo>
                  <a:pt x="76200" y="25400"/>
                </a:lnTo>
                <a:close/>
                <a:moveTo>
                  <a:pt x="320516" y="55642"/>
                </a:moveTo>
                <a:cubicBezTo>
                  <a:pt x="320516" y="66446"/>
                  <a:pt x="326280" y="76430"/>
                  <a:pt x="335637" y="81832"/>
                </a:cubicBezTo>
                <a:cubicBezTo>
                  <a:pt x="344994" y="87234"/>
                  <a:pt x="356522" y="87234"/>
                  <a:pt x="365879" y="81832"/>
                </a:cubicBezTo>
                <a:cubicBezTo>
                  <a:pt x="375236" y="76430"/>
                  <a:pt x="381000" y="66446"/>
                  <a:pt x="381000" y="55642"/>
                </a:cubicBezTo>
                <a:cubicBezTo>
                  <a:pt x="381000" y="44837"/>
                  <a:pt x="375236" y="34854"/>
                  <a:pt x="365879" y="29452"/>
                </a:cubicBezTo>
                <a:cubicBezTo>
                  <a:pt x="356522" y="24049"/>
                  <a:pt x="344994" y="24049"/>
                  <a:pt x="335637" y="29452"/>
                </a:cubicBezTo>
                <a:cubicBezTo>
                  <a:pt x="326280" y="34854"/>
                  <a:pt x="320516" y="44837"/>
                  <a:pt x="320516" y="55642"/>
                </a:cubicBezTo>
                <a:close/>
                <a:moveTo>
                  <a:pt x="222012" y="154146"/>
                </a:moveTo>
                <a:cubicBezTo>
                  <a:pt x="222012" y="164951"/>
                  <a:pt x="227776" y="174934"/>
                  <a:pt x="237133" y="180336"/>
                </a:cubicBezTo>
                <a:cubicBezTo>
                  <a:pt x="246490" y="185739"/>
                  <a:pt x="258018" y="185739"/>
                  <a:pt x="267375" y="180336"/>
                </a:cubicBezTo>
                <a:cubicBezTo>
                  <a:pt x="276732" y="174934"/>
                  <a:pt x="282496" y="164951"/>
                  <a:pt x="282496" y="154146"/>
                </a:cubicBezTo>
                <a:cubicBezTo>
                  <a:pt x="282496" y="143342"/>
                  <a:pt x="276732" y="133358"/>
                  <a:pt x="267375" y="127956"/>
                </a:cubicBezTo>
                <a:cubicBezTo>
                  <a:pt x="258018" y="122554"/>
                  <a:pt x="246490" y="122554"/>
                  <a:pt x="237133" y="127956"/>
                </a:cubicBezTo>
                <a:cubicBezTo>
                  <a:pt x="227776" y="133358"/>
                  <a:pt x="222012" y="143342"/>
                  <a:pt x="222012" y="154146"/>
                </a:cubicBezTo>
                <a:close/>
                <a:moveTo>
                  <a:pt x="350758" y="123904"/>
                </a:moveTo>
                <a:cubicBezTo>
                  <a:pt x="334067" y="123904"/>
                  <a:pt x="320516" y="137455"/>
                  <a:pt x="320516" y="154146"/>
                </a:cubicBezTo>
                <a:cubicBezTo>
                  <a:pt x="320516" y="170837"/>
                  <a:pt x="334067" y="184388"/>
                  <a:pt x="350758" y="184388"/>
                </a:cubicBezTo>
                <a:cubicBezTo>
                  <a:pt x="361563" y="184388"/>
                  <a:pt x="371546" y="178624"/>
                  <a:pt x="376948" y="169267"/>
                </a:cubicBezTo>
                <a:cubicBezTo>
                  <a:pt x="382351" y="159910"/>
                  <a:pt x="382351" y="148382"/>
                  <a:pt x="376948" y="139025"/>
                </a:cubicBezTo>
                <a:cubicBezTo>
                  <a:pt x="371546" y="129668"/>
                  <a:pt x="361563" y="123904"/>
                  <a:pt x="350758" y="123904"/>
                </a:cubicBezTo>
                <a:close/>
                <a:moveTo>
                  <a:pt x="123984" y="252254"/>
                </a:moveTo>
                <a:cubicBezTo>
                  <a:pt x="123984" y="263058"/>
                  <a:pt x="129748" y="273042"/>
                  <a:pt x="139105" y="278444"/>
                </a:cubicBezTo>
                <a:cubicBezTo>
                  <a:pt x="148462" y="283846"/>
                  <a:pt x="159990" y="283846"/>
                  <a:pt x="169347" y="278444"/>
                </a:cubicBezTo>
                <a:cubicBezTo>
                  <a:pt x="178703" y="273042"/>
                  <a:pt x="184468" y="263058"/>
                  <a:pt x="184467" y="252254"/>
                </a:cubicBezTo>
                <a:cubicBezTo>
                  <a:pt x="184468" y="241449"/>
                  <a:pt x="178703" y="231466"/>
                  <a:pt x="169347" y="226064"/>
                </a:cubicBezTo>
                <a:cubicBezTo>
                  <a:pt x="159990" y="220661"/>
                  <a:pt x="148462" y="220661"/>
                  <a:pt x="139105" y="226064"/>
                </a:cubicBezTo>
                <a:cubicBezTo>
                  <a:pt x="129748" y="231466"/>
                  <a:pt x="123984" y="241449"/>
                  <a:pt x="123984" y="252254"/>
                </a:cubicBezTo>
                <a:close/>
                <a:moveTo>
                  <a:pt x="252254" y="222012"/>
                </a:moveTo>
                <a:cubicBezTo>
                  <a:pt x="241449" y="222012"/>
                  <a:pt x="231466" y="227776"/>
                  <a:pt x="226064" y="237133"/>
                </a:cubicBezTo>
                <a:cubicBezTo>
                  <a:pt x="220661" y="246490"/>
                  <a:pt x="220661" y="258018"/>
                  <a:pt x="226064" y="267375"/>
                </a:cubicBezTo>
                <a:cubicBezTo>
                  <a:pt x="231466" y="276732"/>
                  <a:pt x="241449" y="282496"/>
                  <a:pt x="252254" y="282496"/>
                </a:cubicBezTo>
                <a:cubicBezTo>
                  <a:pt x="263058" y="282496"/>
                  <a:pt x="273042" y="276732"/>
                  <a:pt x="278444" y="267375"/>
                </a:cubicBezTo>
                <a:cubicBezTo>
                  <a:pt x="283846" y="258018"/>
                  <a:pt x="283846" y="246490"/>
                  <a:pt x="278444" y="237133"/>
                </a:cubicBezTo>
                <a:cubicBezTo>
                  <a:pt x="273042" y="227776"/>
                  <a:pt x="263058" y="222012"/>
                  <a:pt x="252254" y="222012"/>
                </a:cubicBezTo>
                <a:close/>
                <a:moveTo>
                  <a:pt x="320596" y="252254"/>
                </a:moveTo>
                <a:cubicBezTo>
                  <a:pt x="320596" y="263058"/>
                  <a:pt x="326360" y="273042"/>
                  <a:pt x="335717" y="278444"/>
                </a:cubicBezTo>
                <a:cubicBezTo>
                  <a:pt x="345073" y="283846"/>
                  <a:pt x="356602" y="283846"/>
                  <a:pt x="365958" y="278444"/>
                </a:cubicBezTo>
                <a:cubicBezTo>
                  <a:pt x="375315" y="273042"/>
                  <a:pt x="381079" y="263058"/>
                  <a:pt x="381079" y="252254"/>
                </a:cubicBezTo>
                <a:cubicBezTo>
                  <a:pt x="381079" y="235563"/>
                  <a:pt x="367528" y="222012"/>
                  <a:pt x="350838" y="222012"/>
                </a:cubicBezTo>
                <a:cubicBezTo>
                  <a:pt x="334147" y="222012"/>
                  <a:pt x="320596" y="235563"/>
                  <a:pt x="320596" y="252254"/>
                </a:cubicBezTo>
                <a:close/>
                <a:moveTo>
                  <a:pt x="55642" y="320516"/>
                </a:moveTo>
                <a:cubicBezTo>
                  <a:pt x="44837" y="320516"/>
                  <a:pt x="34854" y="326280"/>
                  <a:pt x="29452" y="335637"/>
                </a:cubicBezTo>
                <a:cubicBezTo>
                  <a:pt x="24049" y="344994"/>
                  <a:pt x="24049" y="356522"/>
                  <a:pt x="29452" y="365879"/>
                </a:cubicBezTo>
                <a:cubicBezTo>
                  <a:pt x="34854" y="375236"/>
                  <a:pt x="44837" y="381000"/>
                  <a:pt x="55642" y="381000"/>
                </a:cubicBezTo>
                <a:cubicBezTo>
                  <a:pt x="66446" y="381000"/>
                  <a:pt x="76430" y="375236"/>
                  <a:pt x="81832" y="365879"/>
                </a:cubicBezTo>
                <a:cubicBezTo>
                  <a:pt x="87234" y="356522"/>
                  <a:pt x="87234" y="344994"/>
                  <a:pt x="81832" y="335637"/>
                </a:cubicBezTo>
                <a:cubicBezTo>
                  <a:pt x="76430" y="326280"/>
                  <a:pt x="66446" y="320516"/>
                  <a:pt x="55642" y="320516"/>
                </a:cubicBezTo>
                <a:close/>
                <a:moveTo>
                  <a:pt x="123984" y="350758"/>
                </a:moveTo>
                <a:cubicBezTo>
                  <a:pt x="123984" y="361563"/>
                  <a:pt x="129748" y="371546"/>
                  <a:pt x="139105" y="376948"/>
                </a:cubicBezTo>
                <a:cubicBezTo>
                  <a:pt x="148462" y="382351"/>
                  <a:pt x="159990" y="382351"/>
                  <a:pt x="169347" y="376948"/>
                </a:cubicBezTo>
                <a:cubicBezTo>
                  <a:pt x="178703" y="371546"/>
                  <a:pt x="184468" y="361563"/>
                  <a:pt x="184467" y="350758"/>
                </a:cubicBezTo>
                <a:cubicBezTo>
                  <a:pt x="184468" y="339954"/>
                  <a:pt x="178703" y="329970"/>
                  <a:pt x="169347" y="324568"/>
                </a:cubicBezTo>
                <a:cubicBezTo>
                  <a:pt x="159990" y="319166"/>
                  <a:pt x="148462" y="319166"/>
                  <a:pt x="139105" y="324568"/>
                </a:cubicBezTo>
                <a:cubicBezTo>
                  <a:pt x="129748" y="329970"/>
                  <a:pt x="123984" y="339954"/>
                  <a:pt x="123984" y="350758"/>
                </a:cubicBezTo>
                <a:close/>
                <a:moveTo>
                  <a:pt x="252254" y="320516"/>
                </a:moveTo>
                <a:cubicBezTo>
                  <a:pt x="241449" y="320516"/>
                  <a:pt x="231466" y="326280"/>
                  <a:pt x="226064" y="335637"/>
                </a:cubicBezTo>
                <a:cubicBezTo>
                  <a:pt x="220661" y="344994"/>
                  <a:pt x="220661" y="356522"/>
                  <a:pt x="226064" y="365879"/>
                </a:cubicBezTo>
                <a:cubicBezTo>
                  <a:pt x="231466" y="375236"/>
                  <a:pt x="241449" y="381000"/>
                  <a:pt x="252254" y="381000"/>
                </a:cubicBezTo>
                <a:cubicBezTo>
                  <a:pt x="263058" y="381000"/>
                  <a:pt x="273042" y="375236"/>
                  <a:pt x="278444" y="365879"/>
                </a:cubicBezTo>
                <a:cubicBezTo>
                  <a:pt x="283846" y="356522"/>
                  <a:pt x="283846" y="344994"/>
                  <a:pt x="278444" y="335637"/>
                </a:cubicBezTo>
                <a:cubicBezTo>
                  <a:pt x="273042" y="326280"/>
                  <a:pt x="263058" y="320516"/>
                  <a:pt x="252254" y="320516"/>
                </a:cubicBezTo>
                <a:close/>
                <a:moveTo>
                  <a:pt x="320596" y="350758"/>
                </a:moveTo>
                <a:cubicBezTo>
                  <a:pt x="320596" y="361563"/>
                  <a:pt x="326360" y="371546"/>
                  <a:pt x="335717" y="376948"/>
                </a:cubicBezTo>
                <a:cubicBezTo>
                  <a:pt x="345073" y="382351"/>
                  <a:pt x="356602" y="382351"/>
                  <a:pt x="365958" y="376948"/>
                </a:cubicBezTo>
                <a:cubicBezTo>
                  <a:pt x="375315" y="371546"/>
                  <a:pt x="381079" y="361563"/>
                  <a:pt x="381079" y="350758"/>
                </a:cubicBezTo>
                <a:cubicBezTo>
                  <a:pt x="381079" y="334067"/>
                  <a:pt x="367528" y="320516"/>
                  <a:pt x="350838" y="320516"/>
                </a:cubicBezTo>
                <a:cubicBezTo>
                  <a:pt x="334147" y="320516"/>
                  <a:pt x="320596" y="334067"/>
                  <a:pt x="320596" y="35075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8509000" y="5308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 READY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09000" y="59436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HPA configured (3-10 replicas) for production workloads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001500" y="4572000"/>
            <a:ext cx="3492500" cy="2921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280900" y="4775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04800" y="406400"/>
                </a:moveTo>
                <a:lnTo>
                  <a:pt x="76200" y="406400"/>
                </a:lnTo>
                <a:cubicBezTo>
                  <a:pt x="34131" y="406400"/>
                  <a:pt x="0" y="372269"/>
                  <a:pt x="0" y="330200"/>
                </a:cubicBezTo>
                <a:lnTo>
                  <a:pt x="0" y="76200"/>
                </a:lnTo>
                <a:cubicBezTo>
                  <a:pt x="0" y="34131"/>
                  <a:pt x="34131" y="0"/>
                  <a:pt x="76200" y="0"/>
                </a:cubicBezTo>
                <a:lnTo>
                  <a:pt x="317500" y="0"/>
                </a:lnTo>
                <a:cubicBezTo>
                  <a:pt x="338534" y="0"/>
                  <a:pt x="355600" y="17066"/>
                  <a:pt x="355600" y="38100"/>
                </a:cubicBezTo>
                <a:lnTo>
                  <a:pt x="355600" y="266700"/>
                </a:lnTo>
                <a:cubicBezTo>
                  <a:pt x="355600" y="283289"/>
                  <a:pt x="344964" y="297418"/>
                  <a:pt x="330200" y="302657"/>
                </a:cubicBezTo>
                <a:lnTo>
                  <a:pt x="330200" y="355600"/>
                </a:lnTo>
                <a:cubicBezTo>
                  <a:pt x="344249" y="355600"/>
                  <a:pt x="355600" y="366951"/>
                  <a:pt x="355600" y="381000"/>
                </a:cubicBezTo>
                <a:cubicBezTo>
                  <a:pt x="355600" y="395049"/>
                  <a:pt x="344249" y="406400"/>
                  <a:pt x="330200" y="406400"/>
                </a:cubicBezTo>
                <a:lnTo>
                  <a:pt x="304800" y="406400"/>
                </a:lnTo>
                <a:close/>
                <a:moveTo>
                  <a:pt x="76200" y="304800"/>
                </a:moveTo>
                <a:cubicBezTo>
                  <a:pt x="62151" y="304800"/>
                  <a:pt x="50800" y="316151"/>
                  <a:pt x="50800" y="330200"/>
                </a:cubicBezTo>
                <a:cubicBezTo>
                  <a:pt x="50800" y="344249"/>
                  <a:pt x="62151" y="355600"/>
                  <a:pt x="76200" y="355600"/>
                </a:cubicBezTo>
                <a:lnTo>
                  <a:pt x="279400" y="355600"/>
                </a:lnTo>
                <a:lnTo>
                  <a:pt x="279400" y="304800"/>
                </a:lnTo>
                <a:lnTo>
                  <a:pt x="76200" y="304800"/>
                </a:lnTo>
                <a:close/>
                <a:moveTo>
                  <a:pt x="101600" y="120650"/>
                </a:moveTo>
                <a:cubicBezTo>
                  <a:pt x="101600" y="131207"/>
                  <a:pt x="110093" y="139700"/>
                  <a:pt x="120650" y="139700"/>
                </a:cubicBezTo>
                <a:lnTo>
                  <a:pt x="260350" y="139700"/>
                </a:lnTo>
                <a:cubicBezTo>
                  <a:pt x="270907" y="139700"/>
                  <a:pt x="279400" y="131207"/>
                  <a:pt x="279400" y="120650"/>
                </a:cubicBezTo>
                <a:cubicBezTo>
                  <a:pt x="279400" y="110093"/>
                  <a:pt x="270907" y="101600"/>
                  <a:pt x="260350" y="101600"/>
                </a:cubicBezTo>
                <a:lnTo>
                  <a:pt x="120650" y="101600"/>
                </a:lnTo>
                <a:cubicBezTo>
                  <a:pt x="110093" y="101600"/>
                  <a:pt x="101600" y="110093"/>
                  <a:pt x="101600" y="120650"/>
                </a:cubicBezTo>
                <a:close/>
                <a:moveTo>
                  <a:pt x="120650" y="177800"/>
                </a:moveTo>
                <a:cubicBezTo>
                  <a:pt x="110093" y="177800"/>
                  <a:pt x="101600" y="186293"/>
                  <a:pt x="101600" y="196850"/>
                </a:cubicBezTo>
                <a:cubicBezTo>
                  <a:pt x="101600" y="207407"/>
                  <a:pt x="110093" y="215900"/>
                  <a:pt x="120650" y="215900"/>
                </a:cubicBezTo>
                <a:lnTo>
                  <a:pt x="260350" y="215900"/>
                </a:lnTo>
                <a:cubicBezTo>
                  <a:pt x="270907" y="215900"/>
                  <a:pt x="279400" y="207407"/>
                  <a:pt x="279400" y="196850"/>
                </a:cubicBezTo>
                <a:cubicBezTo>
                  <a:pt x="279400" y="186293"/>
                  <a:pt x="270907" y="177800"/>
                  <a:pt x="260350" y="177800"/>
                </a:cubicBezTo>
                <a:lnTo>
                  <a:pt x="120650" y="177800"/>
                </a:lnTo>
                <a:close/>
              </a:path>
            </a:pathLst>
          </a:custGeom>
          <a:solidFill>
            <a:srgbClr val="326CE5"/>
          </a:solidFill>
          <a:ln/>
        </p:spPr>
      </p:sp>
      <p:sp>
        <p:nvSpPr>
          <p:cNvPr id="34" name="Text 32"/>
          <p:cNvSpPr/>
          <p:nvPr/>
        </p:nvSpPr>
        <p:spPr>
          <a:xfrm>
            <a:off x="12255500" y="5308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255500" y="5943600"/>
            <a:ext cx="2984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comprehensive guides covering all aspects of the platform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kern="0" spc="200" dirty="0">
                <a:solidFill>
                  <a:srgbClr val="326C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LESSONS LEARNED &amp; BEST PRACTICES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66800"/>
            <a:ext cx="1016000" cy="381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47800"/>
            <a:ext cx="76200" cy="1397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4478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Reusable workflows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 maintenance burden and ensure consistent security scanning across every service pipeline.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997200"/>
            <a:ext cx="76200" cy="1397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9972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Parent-level values files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superior to subchart defaults for environment management — one place to change per environment.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546600"/>
            <a:ext cx="76200" cy="1397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45466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of Apps pattern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scales cleanly — adding a new service requires only one new YAML file in the apps directory.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6096000"/>
            <a:ext cx="76200" cy="1397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60960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policies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should start lightweight, then be tightened based on actual observed traffic patterns — not guessed.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1447800"/>
            <a:ext cx="76200" cy="1397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8356600" y="14478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GitOps eliminates "it works on my machine"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Git IS the deployment state. The cluster simply reflects what's in the repo.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2997200"/>
            <a:ext cx="76200" cy="1397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8356600" y="29972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Branch protection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production prevents accidental configuration changes — the cost of a bad deploy far exceeds review friction.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0" y="4546600"/>
            <a:ext cx="76200" cy="1397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8356600" y="45466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Helm chart updates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bridge CI (build) and CD (deploy) seamlessly — no manual handoffs between pipeline stages.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6096000"/>
            <a:ext cx="76200" cy="1397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8356600" y="60960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Trivy + Snyk</a:t>
            </a: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defense in depth — scanning both containers AND dependencies catches different vulnerability classes.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986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" y="0"/>
            <a:ext cx="16253911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14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00" y="0"/>
            <a:ext cx="162667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48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63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ppck3tqhb4dme/mnt/agents/output/chapterone-devops/images/2_Abstract_background_digital_concept.pn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72A">
                  <a:alpha val="87000"/>
                </a:srgbClr>
              </a:gs>
              <a:gs pos="50000">
                <a:srgbClr val="0F172A">
                  <a:alpha val="80000"/>
                </a:srgbClr>
              </a:gs>
              <a:gs pos="100000">
                <a:srgbClr val="0F172A">
                  <a:alpha val="87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2032000"/>
            <a:ext cx="762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kern="0" spc="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0" y="3492500"/>
            <a:ext cx="2540000" cy="50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3"/>
          <p:cNvSpPr/>
          <p:nvPr/>
        </p:nvSpPr>
        <p:spPr>
          <a:xfrm>
            <a:off x="2413000" y="3810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platform demonstrates production-grade DevOps practices: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pipelines, security-first scanning, GitOps delivery,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comprehensive documentation — ready to scale.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0612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8033" y="315436"/>
                </a:moveTo>
                <a:cubicBezTo>
                  <a:pt x="138033" y="317024"/>
                  <a:pt x="136208" y="318294"/>
                  <a:pt x="133906" y="318294"/>
                </a:cubicBezTo>
                <a:cubicBezTo>
                  <a:pt x="131286" y="318532"/>
                  <a:pt x="129461" y="317262"/>
                  <a:pt x="129461" y="315436"/>
                </a:cubicBezTo>
                <a:cubicBezTo>
                  <a:pt x="129461" y="313849"/>
                  <a:pt x="131286" y="312579"/>
                  <a:pt x="133588" y="312579"/>
                </a:cubicBezTo>
                <a:cubicBezTo>
                  <a:pt x="135969" y="312341"/>
                  <a:pt x="138033" y="313611"/>
                  <a:pt x="138033" y="315436"/>
                </a:cubicBezTo>
                <a:close/>
                <a:moveTo>
                  <a:pt x="113348" y="311864"/>
                </a:moveTo>
                <a:cubicBezTo>
                  <a:pt x="112792" y="313452"/>
                  <a:pt x="114379" y="315278"/>
                  <a:pt x="116761" y="315754"/>
                </a:cubicBezTo>
                <a:cubicBezTo>
                  <a:pt x="118824" y="316547"/>
                  <a:pt x="121206" y="315754"/>
                  <a:pt x="121682" y="314166"/>
                </a:cubicBezTo>
                <a:cubicBezTo>
                  <a:pt x="122158" y="312579"/>
                  <a:pt x="120650" y="310753"/>
                  <a:pt x="118269" y="310039"/>
                </a:cubicBezTo>
                <a:cubicBezTo>
                  <a:pt x="116205" y="309483"/>
                  <a:pt x="113903" y="310277"/>
                  <a:pt x="113348" y="311864"/>
                </a:cubicBezTo>
                <a:close/>
                <a:moveTo>
                  <a:pt x="148431" y="310515"/>
                </a:moveTo>
                <a:cubicBezTo>
                  <a:pt x="146129" y="311071"/>
                  <a:pt x="144542" y="312579"/>
                  <a:pt x="144780" y="314404"/>
                </a:cubicBezTo>
                <a:cubicBezTo>
                  <a:pt x="145018" y="315992"/>
                  <a:pt x="147082" y="317024"/>
                  <a:pt x="149463" y="316468"/>
                </a:cubicBezTo>
                <a:cubicBezTo>
                  <a:pt x="151765" y="315913"/>
                  <a:pt x="153353" y="314404"/>
                  <a:pt x="153114" y="312817"/>
                </a:cubicBezTo>
                <a:cubicBezTo>
                  <a:pt x="152876" y="311309"/>
                  <a:pt x="150733" y="310277"/>
                  <a:pt x="148431" y="310515"/>
                </a:cubicBezTo>
                <a:close/>
                <a:moveTo>
                  <a:pt x="200660" y="6350"/>
                </a:moveTo>
                <a:cubicBezTo>
                  <a:pt x="90567" y="6350"/>
                  <a:pt x="6350" y="89932"/>
                  <a:pt x="6350" y="200025"/>
                </a:cubicBezTo>
                <a:cubicBezTo>
                  <a:pt x="6350" y="288052"/>
                  <a:pt x="61754" y="363379"/>
                  <a:pt x="140891" y="389890"/>
                </a:cubicBezTo>
                <a:cubicBezTo>
                  <a:pt x="151051" y="391716"/>
                  <a:pt x="154623" y="385445"/>
                  <a:pt x="154623" y="380286"/>
                </a:cubicBezTo>
                <a:cubicBezTo>
                  <a:pt x="154623" y="375364"/>
                  <a:pt x="154384" y="348218"/>
                  <a:pt x="154384" y="331549"/>
                </a:cubicBezTo>
                <a:cubicBezTo>
                  <a:pt x="154384" y="331549"/>
                  <a:pt x="98822" y="343456"/>
                  <a:pt x="87154" y="307896"/>
                </a:cubicBezTo>
                <a:cubicBezTo>
                  <a:pt x="87154" y="307896"/>
                  <a:pt x="78105" y="284797"/>
                  <a:pt x="65088" y="278844"/>
                </a:cubicBezTo>
                <a:cubicBezTo>
                  <a:pt x="65088" y="278844"/>
                  <a:pt x="46911" y="266382"/>
                  <a:pt x="66357" y="266621"/>
                </a:cubicBezTo>
                <a:cubicBezTo>
                  <a:pt x="66357" y="266621"/>
                  <a:pt x="86122" y="268208"/>
                  <a:pt x="96996" y="287099"/>
                </a:cubicBezTo>
                <a:cubicBezTo>
                  <a:pt x="114379" y="317738"/>
                  <a:pt x="143510" y="308927"/>
                  <a:pt x="154861" y="303689"/>
                </a:cubicBezTo>
                <a:cubicBezTo>
                  <a:pt x="156686" y="290989"/>
                  <a:pt x="161846" y="282178"/>
                  <a:pt x="167561" y="276939"/>
                </a:cubicBezTo>
                <a:cubicBezTo>
                  <a:pt x="123190" y="272018"/>
                  <a:pt x="78423" y="265589"/>
                  <a:pt x="78423" y="189230"/>
                </a:cubicBezTo>
                <a:cubicBezTo>
                  <a:pt x="78423" y="167402"/>
                  <a:pt x="84455" y="156448"/>
                  <a:pt x="97155" y="142478"/>
                </a:cubicBezTo>
                <a:cubicBezTo>
                  <a:pt x="95091" y="137319"/>
                  <a:pt x="88344" y="116046"/>
                  <a:pt x="99219" y="88582"/>
                </a:cubicBezTo>
                <a:cubicBezTo>
                  <a:pt x="115808" y="83423"/>
                  <a:pt x="153988" y="110014"/>
                  <a:pt x="153988" y="110014"/>
                </a:cubicBezTo>
                <a:cubicBezTo>
                  <a:pt x="169863" y="105569"/>
                  <a:pt x="186928" y="103267"/>
                  <a:pt x="203835" y="103267"/>
                </a:cubicBezTo>
                <a:cubicBezTo>
                  <a:pt x="220742" y="103267"/>
                  <a:pt x="237808" y="105569"/>
                  <a:pt x="253683" y="110014"/>
                </a:cubicBezTo>
                <a:cubicBezTo>
                  <a:pt x="253683" y="110014"/>
                  <a:pt x="291862" y="83344"/>
                  <a:pt x="308451" y="88582"/>
                </a:cubicBezTo>
                <a:cubicBezTo>
                  <a:pt x="319326" y="116126"/>
                  <a:pt x="312579" y="137319"/>
                  <a:pt x="310515" y="142478"/>
                </a:cubicBezTo>
                <a:cubicBezTo>
                  <a:pt x="323215" y="156527"/>
                  <a:pt x="330994" y="167481"/>
                  <a:pt x="330994" y="189230"/>
                </a:cubicBezTo>
                <a:cubicBezTo>
                  <a:pt x="330994" y="265827"/>
                  <a:pt x="284242" y="271939"/>
                  <a:pt x="239871" y="276939"/>
                </a:cubicBezTo>
                <a:cubicBezTo>
                  <a:pt x="247174" y="283210"/>
                  <a:pt x="253365" y="295116"/>
                  <a:pt x="253365" y="313769"/>
                </a:cubicBezTo>
                <a:cubicBezTo>
                  <a:pt x="253365" y="340519"/>
                  <a:pt x="253127" y="373618"/>
                  <a:pt x="253127" y="380127"/>
                </a:cubicBezTo>
                <a:cubicBezTo>
                  <a:pt x="253127" y="385286"/>
                  <a:pt x="256778" y="391557"/>
                  <a:pt x="266859" y="389731"/>
                </a:cubicBezTo>
                <a:cubicBezTo>
                  <a:pt x="346234" y="363379"/>
                  <a:pt x="400050" y="288052"/>
                  <a:pt x="400050" y="200025"/>
                </a:cubicBezTo>
                <a:cubicBezTo>
                  <a:pt x="400050" y="89932"/>
                  <a:pt x="310753" y="6350"/>
                  <a:pt x="200660" y="6350"/>
                </a:cubicBezTo>
                <a:close/>
                <a:moveTo>
                  <a:pt x="83503" y="280114"/>
                </a:moveTo>
                <a:cubicBezTo>
                  <a:pt x="82471" y="280908"/>
                  <a:pt x="82709" y="282734"/>
                  <a:pt x="84058" y="284242"/>
                </a:cubicBezTo>
                <a:cubicBezTo>
                  <a:pt x="85328" y="285512"/>
                  <a:pt x="87154" y="286068"/>
                  <a:pt x="88186" y="285036"/>
                </a:cubicBezTo>
                <a:cubicBezTo>
                  <a:pt x="89218" y="284242"/>
                  <a:pt x="88979" y="282416"/>
                  <a:pt x="87630" y="280908"/>
                </a:cubicBezTo>
                <a:cubicBezTo>
                  <a:pt x="86360" y="279638"/>
                  <a:pt x="84534" y="279083"/>
                  <a:pt x="83503" y="280114"/>
                </a:cubicBezTo>
                <a:close/>
                <a:moveTo>
                  <a:pt x="74930" y="273685"/>
                </a:moveTo>
                <a:cubicBezTo>
                  <a:pt x="74374" y="274717"/>
                  <a:pt x="75168" y="275987"/>
                  <a:pt x="76756" y="276781"/>
                </a:cubicBezTo>
                <a:cubicBezTo>
                  <a:pt x="78026" y="277574"/>
                  <a:pt x="79613" y="277336"/>
                  <a:pt x="80169" y="276225"/>
                </a:cubicBezTo>
                <a:cubicBezTo>
                  <a:pt x="80724" y="275193"/>
                  <a:pt x="79931" y="273923"/>
                  <a:pt x="78343" y="273129"/>
                </a:cubicBezTo>
                <a:cubicBezTo>
                  <a:pt x="76756" y="272653"/>
                  <a:pt x="75486" y="272891"/>
                  <a:pt x="74930" y="273685"/>
                </a:cubicBezTo>
                <a:close/>
                <a:moveTo>
                  <a:pt x="100648" y="301943"/>
                </a:moveTo>
                <a:cubicBezTo>
                  <a:pt x="99378" y="302974"/>
                  <a:pt x="99854" y="305356"/>
                  <a:pt x="101679" y="306864"/>
                </a:cubicBezTo>
                <a:cubicBezTo>
                  <a:pt x="103505" y="308689"/>
                  <a:pt x="105807" y="308927"/>
                  <a:pt x="106839" y="307658"/>
                </a:cubicBezTo>
                <a:cubicBezTo>
                  <a:pt x="107871" y="306626"/>
                  <a:pt x="107394" y="304244"/>
                  <a:pt x="105807" y="302736"/>
                </a:cubicBezTo>
                <a:cubicBezTo>
                  <a:pt x="104061" y="300911"/>
                  <a:pt x="101679" y="300672"/>
                  <a:pt x="100648" y="301943"/>
                </a:cubicBezTo>
                <a:close/>
                <a:moveTo>
                  <a:pt x="91599" y="290274"/>
                </a:moveTo>
                <a:cubicBezTo>
                  <a:pt x="90329" y="291068"/>
                  <a:pt x="90329" y="293132"/>
                  <a:pt x="91599" y="294957"/>
                </a:cubicBezTo>
                <a:cubicBezTo>
                  <a:pt x="92869" y="296783"/>
                  <a:pt x="95012" y="297577"/>
                  <a:pt x="96044" y="296783"/>
                </a:cubicBezTo>
                <a:cubicBezTo>
                  <a:pt x="97314" y="295751"/>
                  <a:pt x="97314" y="293688"/>
                  <a:pt x="96044" y="291862"/>
                </a:cubicBezTo>
                <a:cubicBezTo>
                  <a:pt x="94932" y="290036"/>
                  <a:pt x="92869" y="289243"/>
                  <a:pt x="91599" y="290274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569200" y="5588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u="sng" dirty="0">
                <a:solidFill>
                  <a:srgbClr val="326C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github.com/Googleeyy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53000" y="647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3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DEVOPS • DEVSECOPS • GitOps • KUBERNETES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2336</Words>
  <Application>Microsoft Office PowerPoint</Application>
  <PresentationFormat>Custom</PresentationFormat>
  <Paragraphs>492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Liter</vt:lpstr>
      <vt:lpstr>Calibri</vt:lpstr>
      <vt:lpstr>Arial</vt:lpstr>
      <vt:lpstr>Quattrocento Sans</vt:lpstr>
      <vt:lpstr>QuattrocentoSans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ChapterOne E2E Platform — DevOps, DevSecOps &amp; GitOps</dc:title>
  <dc:subject>ChapterOne E2E Platform — DevOps, DevSecOps &amp; GitOps</dc:subject>
  <dc:creator>Kimi</dc:creator>
  <cp:lastModifiedBy>MI</cp:lastModifiedBy>
  <cp:revision>8</cp:revision>
  <dcterms:created xsi:type="dcterms:W3CDTF">2026-04-27T13:26:34Z</dcterms:created>
  <dcterms:modified xsi:type="dcterms:W3CDTF">2026-04-28T12:05:10Z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{"Label":"ChapterOne E2E Platform — DevOps, DevSecOps &amp; GitOps","ContentProducer":"001191110108MACG2KBH8F10000","ProduceID":"19dcf19e-1832-8496-8000-0000c8e62943","ReservedCode1":"","ContentPropagator":"001191110108MACG2KBH8F20000","PropagateID":"19dcf19e</vt:lpwstr>
  </property>
</Properties>
</file>